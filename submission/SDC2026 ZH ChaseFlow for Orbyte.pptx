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Inter" panose="02000503000000020004"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John from Team ZH. ChaseFlow helps small business owners get paid on time, without hurting customer relationships. I will show the problem, the product, how AI is used safely, and the impact we can measure. All data in the demo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MSMEs are about 39.5 percent of GDP and 48.7 percent of employment, from DOSM's 2024 report. Experian's data shows SMEs take on average 65 days to get paid, compared with 57 days for large corporations. To be careful: this is time to pay, not lateness. But for a small business, waiting longer means less cash for wages, rent and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target user is the owner of a small business, often doing the accounting alongside everything else. I come from accounting, so this problem is close to me. Three things go wrong: chasing is forgotten, the tone is hard to get right, and writing messages in the customer's language takes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journey. The owner clicks Check Overdue. The app reads the invoice data. Plain rules decide the risk tier, and AI explains the reason and drafts a reminder. The owner reviews and approves. Then the send is simulated, logged, and any Promise-to-Pay is tracked. Everything uses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something new that plugs into Orbyte, not a copy of a module. From the organisers' list, Orbyte's live modules are People, Hiring, Work, eSign and Connect, and invoice collections is not one of them. ChaseFlow would be a connected hub that reuses customer contact and language data. To be honest, the integration is conceptual here: we did not connect to a real Orbyte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the Check Overdue screen: every unpaid invoice with a risk tier. Right is the Promise-to-Pay panel. When a customer says they will pay by a date, the owner logs it. The app works out whether the promise was kept, paid late or broken from the invoice's recorded payment, so nobody updates it by hand. All names and amounts are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AI adds value, and where we deliberately do not use it. Plain rules give the baseline risk tier, so the result is predictable. Gemini can move the tier by one level and has to explain why, and it writes the reminder in the customer's language and tone. Its output is checked, the owner approves every message, and sending is simulated. If Gemini fails, the app retries once, uses a cached draft, then a fixed template, so the demo never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deliberately simple. A Flask app serves the pages, applies the rules, and keeps the activity log. It calls the Gemini API for the explanation and the draft. Data is synthetic and kept in memory. If Gemini fails, there is a fallback. It runs on Replit, the code is on GitHub under Apache 2.0, and there are 13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SDG link is Target 8.3, supporting growth of micro, small and medium enterprises. The baseline is Experian's 65-day average time to pay. Our own KPI is minutes per reminder. I want to be clear that the 5 minutes by hand is an assumption, not a measured number, and the 80 percent reduction is a Phase 2 target to test in a pilot. Moving from 65 toward 57 days is a long-term aim, and I do not claim ChaseFlow achieves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risk is the AI being wrong or unavailable. So rules come first, the AI output is validated, there is one retry then a cache then a fixed template, and a human approves every message. On privacy: the demo uses synthetic data only. With real customer data we would need consent and PDPA-compliant handling. Out of scope: real payments, sending real messages, legal or financial advice, and a real Orbyte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reasons this stands out. Rules first and AI second keeps results predictable. The owner stays in control. Messages match the customer's language. Promise-to-Pay status comes from the recorded payment. It needs no training. And we are honest about what is measured and what is assumed. I am an accounting student and I have long been interested in SME problems, which is why I chose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ChaseFlow helps small business owners chase payments faster and more politely, with a human always in control. Next we would pilot with a few SMEs using their own data, with consent, and measure minutes per reminder. These are plans, not done work.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B122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05539"/>
            <a:ext cx="10160000" cy="838200"/>
          </a:xfrm>
          <a:prstGeom prst="rect">
            <a:avLst/>
          </a:prstGeom>
          <a:noFill/>
          <a:ln/>
        </p:spPr>
        <p:txBody>
          <a:bodyPr wrap="square" lIns="0" tIns="0" rIns="0" bIns="0" rtlCol="0" anchor="t"/>
          <a:lstStyle>
            <a:lvl1pPr algn="l" indent="0" marL="0">
              <a:lnSpc>
                <a:spcPct val="115000"/>
              </a:lnSpc>
              <a:buNone/>
              <a:defRPr lang="en-US" sz="3000" dirty="0">
                <a:solidFill>
                  <a:srgbClr val="FFFFFF"/>
                </a:solidFill>
                <a:latin typeface="Inter" pitchFamily="34" charset="0"/>
                <a:ea typeface="Inter" pitchFamily="34" charset="-122"/>
                <a:cs typeface="Inte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448539"/>
            <a:ext cx="10566400" cy="3596661"/>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B122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05539"/>
            <a:ext cx="10160000" cy="838200"/>
          </a:xfrm>
          <a:prstGeom prst="rect">
            <a:avLst/>
          </a:prstGeom>
          <a:noFill/>
          <a:ln/>
        </p:spPr>
        <p:txBody>
          <a:bodyPr wrap="square" lIns="0" tIns="0" rIns="0" bIns="0" rtlCol="0" anchor="t"/>
          <a:lstStyle>
            <a:lvl1pPr algn="l" indent="0" marL="0">
              <a:lnSpc>
                <a:spcPct val="115000"/>
              </a:lnSpc>
              <a:buNone/>
              <a:defRPr lang="en-US" sz="3000" dirty="0">
                <a:solidFill>
                  <a:srgbClr val="FFFFFF"/>
                </a:solidFill>
                <a:latin typeface="Inter" pitchFamily="34" charset="0"/>
                <a:ea typeface="Inter" pitchFamily="34" charset="-122"/>
                <a:cs typeface="Inte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2448539"/>
            <a:ext cx="10566400" cy="3596661"/>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66000" y="0"/>
            <a:ext cx="4826000" cy="3556000"/>
          </a:xfrm>
          <a:prstGeom prst="rect">
            <a:avLst/>
          </a:prstGeom>
          <a:solidFill>
            <a:srgbClr val="102246"/>
          </a:solidFill>
          <a:ln/>
        </p:spPr>
      </p:sp>
      <p:sp>
        <p:nvSpPr>
          <p:cNvPr id="3" name="Shape 1"/>
          <p:cNvSpPr/>
          <p:nvPr/>
        </p:nvSpPr>
        <p:spPr>
          <a:xfrm>
            <a:off x="0" y="4318000"/>
            <a:ext cx="3556000" cy="2540000"/>
          </a:xfrm>
          <a:prstGeom prst="rect">
            <a:avLst/>
          </a:prstGeom>
          <a:solidFill>
            <a:srgbClr val="0F2A3A"/>
          </a:solidFill>
          <a:ln/>
        </p:spPr>
      </p:sp>
      <p:sp>
        <p:nvSpPr>
          <p:cNvPr id="4" name="Shape 2"/>
          <p:cNvSpPr/>
          <p:nvPr/>
        </p:nvSpPr>
        <p:spPr>
          <a:xfrm>
            <a:off x="812800" y="406400"/>
            <a:ext cx="609600" cy="50800"/>
          </a:xfrm>
          <a:prstGeom prst="roundRect">
            <a:avLst>
              <a:gd name="adj" fmla="val 50000"/>
            </a:avLst>
          </a:prstGeom>
          <a:solidFill>
            <a:srgbClr val="22D3EE"/>
          </a:solidFill>
          <a:ln/>
        </p:spPr>
      </p:sp>
      <p:sp>
        <p:nvSpPr>
          <p:cNvPr id="5" name="Text 3"/>
          <p:cNvSpPr/>
          <p:nvPr/>
        </p:nvSpPr>
        <p:spPr>
          <a:xfrm>
            <a:off x="812800" y="1587500"/>
            <a:ext cx="3495892" cy="289538"/>
          </a:xfrm>
          <a:custGeom>
            <a:avLst/>
            <a:gdLst/>
            <a:ahLst/>
            <a:cxnLst/>
            <a:rect l="l" t="t" r="r" b="b"/>
            <a:pathLst>
              <a:path w="3495892" h="289538">
                <a:moveTo>
                  <a:pt x="144769" y="0"/>
                </a:moveTo>
                <a:lnTo>
                  <a:pt x="3351122" y="0"/>
                </a:lnTo>
                <a:arcTo hR="144769" wR="144769" stAng="16200000" swAng="5400000"/>
                <a:lnTo>
                  <a:pt x="3495892" y="144769"/>
                </a:lnTo>
                <a:arcTo hR="144769" wR="144769" stAng="0" swAng="5400000"/>
                <a:lnTo>
                  <a:pt x="144769" y="289538"/>
                </a:lnTo>
                <a:arcTo hR="144769" wR="144769" stAng="5400000" swAng="5400000"/>
                <a:lnTo>
                  <a:pt x="0" y="144769"/>
                </a:lnTo>
                <a:arcTo hR="144769" wR="144769"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SDC HACKATHON 2026 · DOMAIN 2</a:t>
            </a:r>
            <a:endParaRPr lang="en-US" sz="1200" dirty="0"/>
          </a:p>
        </p:txBody>
      </p:sp>
      <p:sp>
        <p:nvSpPr>
          <p:cNvPr id="6" name="Text 4"/>
          <p:cNvSpPr/>
          <p:nvPr>
            <p:ph type="title"/>
          </p:nvPr>
        </p:nvSpPr>
        <p:spPr>
          <a:xfrm>
            <a:off x="812800" y="2004038"/>
            <a:ext cx="5363210" cy="863600"/>
          </a:xfrm>
          <a:prstGeom prst="rect">
            <a:avLst/>
          </a:prstGeom>
          <a:noFill/>
          <a:ln/>
        </p:spPr>
        <p:txBody>
          <a:bodyPr wrap="square" lIns="0" tIns="0" rIns="0" bIns="0" rtlCol="0" anchor="t">
            <a:normAutofit/>
          </a:bodyPr>
          <a:lstStyle/>
          <a:p>
            <a:pPr algn="l" indent="0" marL="0">
              <a:lnSpc>
                <a:spcPts val="6600"/>
              </a:lnSpc>
              <a:buNone/>
            </a:pPr>
            <a:r>
              <a:rPr lang="en-US" sz="6600" b="1" i="0" dirty="0">
                <a:solidFill>
                  <a:srgbClr val="FFFFFF"/>
                </a:solidFill>
                <a:latin typeface="Inter" pitchFamily="34" charset="0"/>
                <a:ea typeface="Inter" pitchFamily="34" charset="-122"/>
                <a:cs typeface="Inter" pitchFamily="34" charset="-120"/>
              </a:rPr>
              <a:t>ChaseFlow</a:t>
            </a:r>
            <a:endParaRPr lang="en-US" sz="6600" dirty="0"/>
          </a:p>
        </p:txBody>
      </p:sp>
      <p:sp>
        <p:nvSpPr>
          <p:cNvPr id="7" name="Text 5"/>
          <p:cNvSpPr/>
          <p:nvPr/>
        </p:nvSpPr>
        <p:spPr>
          <a:xfrm>
            <a:off x="812800" y="2969239"/>
            <a:ext cx="5363210" cy="558800"/>
          </a:xfrm>
          <a:prstGeom prst="rect">
            <a:avLst/>
          </a:prstGeom>
          <a:noFill/>
          <a:ln/>
        </p:spPr>
        <p:txBody>
          <a:bodyPr wrap="square" lIns="0" tIns="0" rIns="0" bIns="0" rtlCol="0" anchor="t">
            <a:normAutofit/>
          </a:bodyPr>
          <a:lstStyle/>
          <a:p>
            <a:pPr algn="l" indent="0" marL="0">
              <a:lnSpc>
                <a:spcPts val="4200"/>
              </a:lnSpc>
              <a:buNone/>
            </a:pPr>
            <a:r>
              <a:rPr lang="en-US" sz="4200" b="1" dirty="0">
                <a:solidFill>
                  <a:srgbClr val="22D3EE"/>
                </a:solidFill>
                <a:latin typeface="Inter" pitchFamily="34" charset="0"/>
                <a:ea typeface="Inter" pitchFamily="34" charset="-122"/>
                <a:cs typeface="Inter" pitchFamily="34" charset="-120"/>
              </a:rPr>
              <a:t>for Orbyte</a:t>
            </a:r>
            <a:endParaRPr lang="en-US" sz="4200" dirty="0"/>
          </a:p>
        </p:txBody>
      </p:sp>
      <p:sp>
        <p:nvSpPr>
          <p:cNvPr id="8" name="Text 6"/>
          <p:cNvSpPr/>
          <p:nvPr/>
        </p:nvSpPr>
        <p:spPr>
          <a:xfrm>
            <a:off x="812800" y="3629639"/>
            <a:ext cx="5363210" cy="1002578"/>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C9D4EE"/>
                </a:solidFill>
                <a:latin typeface="Inter" pitchFamily="34" charset="0"/>
                <a:ea typeface="Inter" pitchFamily="34" charset="-122"/>
                <a:cs typeface="Inter" pitchFamily="34" charset="-120"/>
              </a:rPr>
              <a:t>An AI assistant that helps Malaysian SME owners chase overdue invoices. A human approves every message.</a:t>
            </a:r>
            <a:endParaRPr lang="en-US" sz="1900" dirty="0"/>
          </a:p>
        </p:txBody>
      </p:sp>
      <p:pic>
        <p:nvPicPr>
          <p:cNvPr id="9" name="Image 0" descr="">    </p:cNvPr>
          <p:cNvPicPr>
            <a:picLocks noChangeAspect="1"/>
          </p:cNvPicPr>
          <p:nvPr/>
        </p:nvPicPr>
        <p:blipFill>
          <a:blip r:embed="rId1"/>
          <a:srcRect l="0" r="0" t="137" b="137"/>
          <a:stretch/>
        </p:blipFill>
        <p:spPr>
          <a:xfrm>
            <a:off x="6184900" y="1727200"/>
            <a:ext cx="5181600" cy="3302000"/>
          </a:xfrm>
          <a:prstGeom prst="roundRect">
            <a:avLst>
              <a:gd name="adj" fmla="val 4231"/>
            </a:avLst>
          </a:prstGeom>
        </p:spPr>
      </p:pic>
      <p:sp>
        <p:nvSpPr>
          <p:cNvPr id="10" name="Shape 7"/>
          <p:cNvSpPr/>
          <p:nvPr/>
        </p:nvSpPr>
        <p:spPr>
          <a:xfrm>
            <a:off x="6178550" y="1720850"/>
            <a:ext cx="5194300" cy="3314700"/>
          </a:xfrm>
          <a:prstGeom prst="roundRect">
            <a:avLst>
              <a:gd name="adj" fmla="val 4406"/>
            </a:avLst>
          </a:prstGeom>
          <a:noFill/>
          <a:ln w="12700">
            <a:solidFill>
              <a:srgbClr val="2B3F6B"/>
            </a:solidFill>
            <a:prstDash val="solid"/>
          </a:ln>
        </p:spPr>
      </p:sp>
      <p:sp>
        <p:nvSpPr>
          <p:cNvPr id="11" name="Text 8"/>
          <p:cNvSpPr/>
          <p:nvPr/>
        </p:nvSpPr>
        <p:spPr>
          <a:xfrm>
            <a:off x="812800" y="6238262"/>
            <a:ext cx="274320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Team ZH · Wong Zong Han (solo)</a:t>
            </a:r>
            <a:endParaRPr lang="en-US" sz="1200" dirty="0"/>
          </a:p>
        </p:txBody>
      </p:sp>
      <p:sp>
        <p:nvSpPr>
          <p:cNvPr id="12" name="Text 9"/>
          <p:cNvSpPr/>
          <p:nvPr/>
        </p:nvSpPr>
        <p:spPr>
          <a:xfrm>
            <a:off x="8695062" y="6238262"/>
            <a:ext cx="3220965"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Orbyte Smart SME Challenge · SDG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12800" y="406400"/>
            <a:ext cx="609600" cy="50800"/>
          </a:xfrm>
          <a:prstGeom prst="roundRect">
            <a:avLst>
              <a:gd name="adj" fmla="val 50000"/>
            </a:avLst>
          </a:prstGeom>
          <a:solidFill>
            <a:srgbClr val="22D3EE"/>
          </a:solidFill>
          <a:ln/>
        </p:spPr>
      </p:sp>
      <p:sp>
        <p:nvSpPr>
          <p:cNvPr id="3" name="Text 1"/>
          <p:cNvSpPr/>
          <p:nvPr/>
        </p:nvSpPr>
        <p:spPr>
          <a:xfrm>
            <a:off x="812800" y="812800"/>
            <a:ext cx="1568197" cy="289538"/>
          </a:xfrm>
          <a:custGeom>
            <a:avLst/>
            <a:gdLst/>
            <a:ahLst/>
            <a:cxnLst/>
            <a:rect l="l" t="t" r="r" b="b"/>
            <a:pathLst>
              <a:path w="1568197" h="289538">
                <a:moveTo>
                  <a:pt x="144769" y="0"/>
                </a:moveTo>
                <a:lnTo>
                  <a:pt x="1423428" y="0"/>
                </a:lnTo>
                <a:arcTo hR="144769" wR="144769" stAng="16200000" swAng="5400000"/>
                <a:lnTo>
                  <a:pt x="1568197" y="144769"/>
                </a:lnTo>
                <a:arcTo hR="144769" wR="144769" stAng="0" swAng="5400000"/>
                <a:lnTo>
                  <a:pt x="144769" y="289538"/>
                </a:lnTo>
                <a:arcTo hR="144769" wR="144769" stAng="5400000" swAng="5400000"/>
                <a:lnTo>
                  <a:pt x="0" y="144769"/>
                </a:lnTo>
                <a:arcTo hR="144769" wR="144769"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THE PROBLEM</a:t>
            </a:r>
            <a:endParaRPr lang="en-US" sz="1200" dirty="0"/>
          </a:p>
        </p:txBody>
      </p:sp>
      <p:sp>
        <p:nvSpPr>
          <p:cNvPr id="4" name="Text 2"/>
          <p:cNvSpPr/>
          <p:nvPr>
            <p:ph type="title"/>
          </p:nvPr>
        </p:nvSpPr>
        <p:spPr>
          <a:xfrm>
            <a:off x="812800" y="1305539"/>
            <a:ext cx="9810750"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FFFFF"/>
                </a:solidFill>
                <a:latin typeface="Inter" pitchFamily="34" charset="0"/>
                <a:ea typeface="Inter" pitchFamily="34" charset="-122"/>
                <a:cs typeface="Inter" pitchFamily="34" charset="-120"/>
              </a:rPr>
              <a:t>Slow-paying customers squeeze the businesses that employ almost half of Malaysia</a:t>
            </a:r>
            <a:endParaRPr lang="en-US" sz="3000" dirty="0"/>
          </a:p>
        </p:txBody>
      </p:sp>
      <p:sp>
        <p:nvSpPr>
          <p:cNvPr id="5" name="Shape 3"/>
          <p:cNvSpPr/>
          <p:nvPr/>
        </p:nvSpPr>
        <p:spPr>
          <a:xfrm>
            <a:off x="819150" y="2353289"/>
            <a:ext cx="3381664" cy="2019300"/>
          </a:xfrm>
          <a:prstGeom prst="roundRect">
            <a:avLst>
              <a:gd name="adj" fmla="val 8491"/>
            </a:avLst>
          </a:prstGeom>
          <a:solidFill>
            <a:srgbClr val="111C33"/>
          </a:solidFill>
          <a:ln w="12700">
            <a:solidFill>
              <a:srgbClr val="22345A"/>
            </a:solidFill>
            <a:prstDash val="solid"/>
          </a:ln>
        </p:spPr>
      </p:sp>
      <p:sp>
        <p:nvSpPr>
          <p:cNvPr id="6" name="Text 4"/>
          <p:cNvSpPr/>
          <p:nvPr/>
        </p:nvSpPr>
        <p:spPr>
          <a:xfrm>
            <a:off x="1078346" y="2612484"/>
            <a:ext cx="2949171" cy="660400"/>
          </a:xfrm>
          <a:prstGeom prst="rect">
            <a:avLst/>
          </a:prstGeom>
          <a:noFill/>
          <a:ln/>
        </p:spPr>
        <p:txBody>
          <a:bodyPr wrap="square" lIns="0" tIns="0" rIns="0" bIns="0" rtlCol="0" anchor="t">
            <a:normAutofit/>
          </a:bodyPr>
          <a:lstStyle/>
          <a:p>
            <a:pPr algn="l" indent="0" marL="0">
              <a:lnSpc>
                <a:spcPts val="5000"/>
              </a:lnSpc>
              <a:buNone/>
            </a:pPr>
            <a:r>
              <a:rPr lang="en-US" sz="5000" b="1" dirty="0">
                <a:solidFill>
                  <a:srgbClr val="22D3EE"/>
                </a:solidFill>
                <a:latin typeface="Inter" pitchFamily="34" charset="0"/>
                <a:ea typeface="Inter" pitchFamily="34" charset="-122"/>
                <a:cs typeface="Inter" pitchFamily="34" charset="-120"/>
              </a:rPr>
              <a:t>39.5%</a:t>
            </a:r>
            <a:endParaRPr lang="en-US" sz="5000" dirty="0"/>
          </a:p>
        </p:txBody>
      </p:sp>
      <p:sp>
        <p:nvSpPr>
          <p:cNvPr id="7" name="Text 5"/>
          <p:cNvSpPr/>
          <p:nvPr/>
        </p:nvSpPr>
        <p:spPr>
          <a:xfrm>
            <a:off x="1078346" y="3336384"/>
            <a:ext cx="2949171" cy="59430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CFA"/>
                </a:solidFill>
                <a:latin typeface="Inter" pitchFamily="34" charset="0"/>
                <a:ea typeface="Inter" pitchFamily="34" charset="-122"/>
                <a:cs typeface="Inter" pitchFamily="34" charset="-120"/>
              </a:rPr>
              <a:t>of Malaysia's GDP comes from MSMEs</a:t>
            </a:r>
            <a:endParaRPr lang="en-US" sz="1600" dirty="0"/>
          </a:p>
        </p:txBody>
      </p:sp>
      <p:sp>
        <p:nvSpPr>
          <p:cNvPr id="8" name="Shape 6"/>
          <p:cNvSpPr/>
          <p:nvPr/>
        </p:nvSpPr>
        <p:spPr>
          <a:xfrm>
            <a:off x="4416714" y="2353289"/>
            <a:ext cx="3381664" cy="2019300"/>
          </a:xfrm>
          <a:prstGeom prst="roundRect">
            <a:avLst>
              <a:gd name="adj" fmla="val 8491"/>
            </a:avLst>
          </a:prstGeom>
          <a:solidFill>
            <a:srgbClr val="111C33"/>
          </a:solidFill>
          <a:ln w="12700">
            <a:solidFill>
              <a:srgbClr val="22345A"/>
            </a:solidFill>
            <a:prstDash val="solid"/>
          </a:ln>
        </p:spPr>
      </p:sp>
      <p:sp>
        <p:nvSpPr>
          <p:cNvPr id="9" name="Text 7"/>
          <p:cNvSpPr/>
          <p:nvPr/>
        </p:nvSpPr>
        <p:spPr>
          <a:xfrm>
            <a:off x="4675909" y="2612484"/>
            <a:ext cx="2949171" cy="660400"/>
          </a:xfrm>
          <a:prstGeom prst="rect">
            <a:avLst/>
          </a:prstGeom>
          <a:noFill/>
          <a:ln/>
        </p:spPr>
        <p:txBody>
          <a:bodyPr wrap="square" lIns="0" tIns="0" rIns="0" bIns="0" rtlCol="0" anchor="t">
            <a:normAutofit/>
          </a:bodyPr>
          <a:lstStyle/>
          <a:p>
            <a:pPr algn="l" indent="0" marL="0">
              <a:lnSpc>
                <a:spcPts val="5000"/>
              </a:lnSpc>
              <a:buNone/>
            </a:pPr>
            <a:r>
              <a:rPr lang="en-US" sz="5000" b="1" dirty="0">
                <a:solidFill>
                  <a:srgbClr val="22D3EE"/>
                </a:solidFill>
                <a:latin typeface="Inter" pitchFamily="34" charset="0"/>
                <a:ea typeface="Inter" pitchFamily="34" charset="-122"/>
                <a:cs typeface="Inter" pitchFamily="34" charset="-120"/>
              </a:rPr>
              <a:t>48.7%</a:t>
            </a:r>
            <a:endParaRPr lang="en-US" sz="5000" dirty="0"/>
          </a:p>
        </p:txBody>
      </p:sp>
      <p:sp>
        <p:nvSpPr>
          <p:cNvPr id="10" name="Text 8"/>
          <p:cNvSpPr/>
          <p:nvPr/>
        </p:nvSpPr>
        <p:spPr>
          <a:xfrm>
            <a:off x="4675909" y="3336384"/>
            <a:ext cx="2949171" cy="30985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CFA"/>
                </a:solidFill>
                <a:latin typeface="Inter" pitchFamily="34" charset="0"/>
                <a:ea typeface="Inter" pitchFamily="34" charset="-122"/>
                <a:cs typeface="Inter" pitchFamily="34" charset="-120"/>
              </a:rPr>
              <a:t>of jobs are in MSMEs</a:t>
            </a:r>
            <a:endParaRPr lang="en-US" sz="1600" dirty="0"/>
          </a:p>
        </p:txBody>
      </p:sp>
      <p:sp>
        <p:nvSpPr>
          <p:cNvPr id="11" name="Shape 9"/>
          <p:cNvSpPr/>
          <p:nvPr/>
        </p:nvSpPr>
        <p:spPr>
          <a:xfrm>
            <a:off x="8007927" y="2346939"/>
            <a:ext cx="3371273" cy="2032000"/>
          </a:xfrm>
          <a:prstGeom prst="roundRect">
            <a:avLst>
              <a:gd name="adj" fmla="val 8750"/>
            </a:avLst>
          </a:prstGeom>
          <a:solidFill>
            <a:srgbClr val="2563EB"/>
          </a:solidFill>
          <a:ln/>
        </p:spPr>
      </p:sp>
      <p:sp>
        <p:nvSpPr>
          <p:cNvPr id="12" name="Text 10"/>
          <p:cNvSpPr/>
          <p:nvPr/>
        </p:nvSpPr>
        <p:spPr>
          <a:xfrm>
            <a:off x="8261927" y="2600939"/>
            <a:ext cx="2949171" cy="660400"/>
          </a:xfrm>
          <a:prstGeom prst="rect">
            <a:avLst/>
          </a:prstGeom>
          <a:noFill/>
          <a:ln/>
        </p:spPr>
        <p:txBody>
          <a:bodyPr wrap="square" lIns="0" tIns="0" rIns="0" bIns="0" rtlCol="0" anchor="t">
            <a:normAutofit/>
          </a:bodyPr>
          <a:lstStyle/>
          <a:p>
            <a:pPr algn="l" indent="0" marL="0">
              <a:lnSpc>
                <a:spcPts val="5000"/>
              </a:lnSpc>
              <a:buNone/>
            </a:pPr>
            <a:r>
              <a:rPr lang="en-US" sz="5000" b="1" dirty="0">
                <a:solidFill>
                  <a:srgbClr val="FBBF24"/>
                </a:solidFill>
                <a:latin typeface="Inter" pitchFamily="34" charset="0"/>
                <a:ea typeface="Inter" pitchFamily="34" charset="-122"/>
                <a:cs typeface="Inter" pitchFamily="34" charset="-120"/>
              </a:rPr>
              <a:t>65 vs 57</a:t>
            </a:r>
            <a:endParaRPr lang="en-US" sz="5000" dirty="0"/>
          </a:p>
        </p:txBody>
      </p:sp>
      <p:sp>
        <p:nvSpPr>
          <p:cNvPr id="13" name="Text 11"/>
          <p:cNvSpPr/>
          <p:nvPr/>
        </p:nvSpPr>
        <p:spPr>
          <a:xfrm>
            <a:off x="8261927" y="3324839"/>
            <a:ext cx="294917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Inter" pitchFamily="34" charset="0"/>
                <a:ea typeface="Inter" pitchFamily="34" charset="-122"/>
                <a:cs typeface="Inter" pitchFamily="34" charset="-120"/>
              </a:rPr>
              <a:t>average days to pay: SMEs vs large corporations (Jan–May 2024)</a:t>
            </a:r>
            <a:endParaRPr lang="en-US" sz="1500" dirty="0"/>
          </a:p>
        </p:txBody>
      </p:sp>
      <p:sp>
        <p:nvSpPr>
          <p:cNvPr id="14" name="Text 12"/>
          <p:cNvSpPr/>
          <p:nvPr/>
        </p:nvSpPr>
        <p:spPr>
          <a:xfrm>
            <a:off x="812800" y="4582139"/>
            <a:ext cx="11379200" cy="2565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0C6"/>
                </a:solidFill>
                <a:latin typeface="Inter" pitchFamily="34" charset="0"/>
                <a:ea typeface="Inter" pitchFamily="34" charset="-122"/>
                <a:cs typeface="Inter" pitchFamily="34" charset="-120"/>
              </a:rPr>
              <a:t>The 65-day figure measures how long invoices take to be paid, not how many are late. It shows the cash-flow gap small firms live with.</a:t>
            </a:r>
            <a:endParaRPr lang="en-US" sz="1300" dirty="0"/>
          </a:p>
        </p:txBody>
      </p:sp>
      <p:sp>
        <p:nvSpPr>
          <p:cNvPr id="15" name="Text 13"/>
          <p:cNvSpPr/>
          <p:nvPr/>
        </p:nvSpPr>
        <p:spPr>
          <a:xfrm>
            <a:off x="812800" y="6238263"/>
            <a:ext cx="9823652"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Sources: DOSM, MSMEs Performance 2024 (released 31 Jul 2025) · Experian Malaysia, State of Credit, May 2024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12800" y="406400"/>
            <a:ext cx="609600" cy="50800"/>
          </a:xfrm>
          <a:prstGeom prst="roundRect">
            <a:avLst>
              <a:gd name="adj" fmla="val 50000"/>
            </a:avLst>
          </a:prstGeom>
          <a:solidFill>
            <a:srgbClr val="22D3EE"/>
          </a:solidFill>
          <a:ln/>
        </p:spPr>
      </p:sp>
      <p:sp>
        <p:nvSpPr>
          <p:cNvPr id="3" name="Text 1"/>
          <p:cNvSpPr/>
          <p:nvPr/>
        </p:nvSpPr>
        <p:spPr>
          <a:xfrm>
            <a:off x="812800" y="812800"/>
            <a:ext cx="1967057" cy="289538"/>
          </a:xfrm>
          <a:custGeom>
            <a:avLst/>
            <a:gdLst/>
            <a:ahLst/>
            <a:cxnLst/>
            <a:rect l="l" t="t" r="r" b="b"/>
            <a:pathLst>
              <a:path w="1967057" h="289538">
                <a:moveTo>
                  <a:pt x="144769" y="0"/>
                </a:moveTo>
                <a:lnTo>
                  <a:pt x="1822288" y="0"/>
                </a:lnTo>
                <a:arcTo hR="144769" wR="144769" stAng="16200000" swAng="5400000"/>
                <a:lnTo>
                  <a:pt x="1967057" y="144769"/>
                </a:lnTo>
                <a:arcTo hR="144769" wR="144769" stAng="0" swAng="5400000"/>
                <a:lnTo>
                  <a:pt x="144769" y="289538"/>
                </a:lnTo>
                <a:arcTo hR="144769" wR="144769" stAng="5400000" swAng="5400000"/>
                <a:lnTo>
                  <a:pt x="0" y="144769"/>
                </a:lnTo>
                <a:arcTo hR="144769" wR="144769"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WHO IS AFFECTED</a:t>
            </a:r>
            <a:endParaRPr lang="en-US" sz="1200" dirty="0"/>
          </a:p>
        </p:txBody>
      </p:sp>
      <p:sp>
        <p:nvSpPr>
          <p:cNvPr id="4" name="Text 2"/>
          <p:cNvSpPr/>
          <p:nvPr>
            <p:ph type="title"/>
          </p:nvPr>
        </p:nvSpPr>
        <p:spPr>
          <a:xfrm>
            <a:off x="812800" y="1305539"/>
            <a:ext cx="9810750"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FFFFF"/>
                </a:solidFill>
                <a:latin typeface="Inter" pitchFamily="34" charset="0"/>
                <a:ea typeface="Inter" pitchFamily="34" charset="-122"/>
                <a:cs typeface="Inter" pitchFamily="34" charset="-120"/>
              </a:rPr>
              <a:t>The owner is also the bookkeeper, and chasing money keeps slipping</a:t>
            </a:r>
            <a:endParaRPr lang="en-US" sz="3000" dirty="0"/>
          </a:p>
        </p:txBody>
      </p:sp>
      <p:sp>
        <p:nvSpPr>
          <p:cNvPr id="5" name="Shape 3"/>
          <p:cNvSpPr/>
          <p:nvPr/>
        </p:nvSpPr>
        <p:spPr>
          <a:xfrm>
            <a:off x="819150" y="2353289"/>
            <a:ext cx="3373943" cy="2436091"/>
          </a:xfrm>
          <a:prstGeom prst="roundRect">
            <a:avLst>
              <a:gd name="adj" fmla="val 7038"/>
            </a:avLst>
          </a:prstGeom>
          <a:solidFill>
            <a:srgbClr val="111C33"/>
          </a:solidFill>
          <a:ln w="12700">
            <a:solidFill>
              <a:srgbClr val="22345A"/>
            </a:solidFill>
            <a:prstDash val="solid"/>
          </a:ln>
        </p:spPr>
      </p:sp>
      <p:sp>
        <p:nvSpPr>
          <p:cNvPr id="6" name="Text 4"/>
          <p:cNvSpPr/>
          <p:nvPr/>
        </p:nvSpPr>
        <p:spPr>
          <a:xfrm>
            <a:off x="1052946" y="2587084"/>
            <a:ext cx="457200" cy="4572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2240"/>
              </a:lnSpc>
              <a:buNone/>
            </a:pPr>
            <a:r>
              <a:rPr lang="en-US" sz="1600" b="1" dirty="0">
                <a:solidFill>
                  <a:srgbClr val="FFFFFF"/>
                </a:solidFill>
                <a:latin typeface="Inter" pitchFamily="34" charset="0"/>
                <a:ea typeface="Inter" pitchFamily="34" charset="-122"/>
                <a:cs typeface="Inter" pitchFamily="34" charset="-120"/>
              </a:rPr>
              <a:t>1</a:t>
            </a:r>
            <a:endParaRPr lang="en-US" sz="1600" dirty="0"/>
          </a:p>
        </p:txBody>
      </p:sp>
      <p:sp>
        <p:nvSpPr>
          <p:cNvPr id="7" name="Text 5"/>
          <p:cNvSpPr/>
          <p:nvPr/>
        </p:nvSpPr>
        <p:spPr>
          <a:xfrm>
            <a:off x="1052946" y="3133184"/>
            <a:ext cx="2993542"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FFFFFF"/>
                </a:solidFill>
                <a:latin typeface="Inter" pitchFamily="34" charset="0"/>
                <a:ea typeface="Inter" pitchFamily="34" charset="-122"/>
                <a:cs typeface="Inter" pitchFamily="34" charset="-120"/>
              </a:rPr>
              <a:t>IT GETS FORGOTTEN</a:t>
            </a:r>
            <a:endParaRPr lang="en-US" sz="1500" dirty="0"/>
          </a:p>
        </p:txBody>
      </p:sp>
      <p:sp>
        <p:nvSpPr>
          <p:cNvPr id="8" name="Text 6"/>
          <p:cNvSpPr/>
          <p:nvPr/>
        </p:nvSpPr>
        <p:spPr>
          <a:xfrm>
            <a:off x="1052946" y="3488784"/>
            <a:ext cx="299354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CFA"/>
                </a:solidFill>
                <a:latin typeface="Inter" pitchFamily="34" charset="0"/>
                <a:ea typeface="Inter" pitchFamily="34" charset="-122"/>
                <a:cs typeface="Inter" pitchFamily="34" charset="-120"/>
              </a:rPr>
              <a:t>No one tracks who is overdue. Follow-up depends on the owner's memory and spare time.</a:t>
            </a:r>
            <a:endParaRPr lang="en-US" sz="1500" dirty="0"/>
          </a:p>
        </p:txBody>
      </p:sp>
      <p:sp>
        <p:nvSpPr>
          <p:cNvPr id="9" name="Shape 7"/>
          <p:cNvSpPr/>
          <p:nvPr/>
        </p:nvSpPr>
        <p:spPr>
          <a:xfrm>
            <a:off x="4408993" y="2353289"/>
            <a:ext cx="3373979" cy="2436091"/>
          </a:xfrm>
          <a:prstGeom prst="roundRect">
            <a:avLst>
              <a:gd name="adj" fmla="val 7038"/>
            </a:avLst>
          </a:prstGeom>
          <a:solidFill>
            <a:srgbClr val="111C33"/>
          </a:solidFill>
          <a:ln w="12700">
            <a:solidFill>
              <a:srgbClr val="22345A"/>
            </a:solidFill>
            <a:prstDash val="solid"/>
          </a:ln>
        </p:spPr>
      </p:sp>
      <p:sp>
        <p:nvSpPr>
          <p:cNvPr id="10" name="Text 8"/>
          <p:cNvSpPr/>
          <p:nvPr/>
        </p:nvSpPr>
        <p:spPr>
          <a:xfrm>
            <a:off x="4642788" y="2587084"/>
            <a:ext cx="457200" cy="4572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2240"/>
              </a:lnSpc>
              <a:buNone/>
            </a:pPr>
            <a:r>
              <a:rPr lang="en-US" sz="1600" b="1" dirty="0">
                <a:solidFill>
                  <a:srgbClr val="FFFFFF"/>
                </a:solidFill>
                <a:latin typeface="Inter" pitchFamily="34" charset="0"/>
                <a:ea typeface="Inter" pitchFamily="34" charset="-122"/>
                <a:cs typeface="Inter" pitchFamily="34" charset="-120"/>
              </a:rPr>
              <a:t>2</a:t>
            </a:r>
            <a:endParaRPr lang="en-US" sz="1600" dirty="0"/>
          </a:p>
        </p:txBody>
      </p:sp>
      <p:sp>
        <p:nvSpPr>
          <p:cNvPr id="11" name="Text 9"/>
          <p:cNvSpPr/>
          <p:nvPr/>
        </p:nvSpPr>
        <p:spPr>
          <a:xfrm>
            <a:off x="4642788" y="3133184"/>
            <a:ext cx="299358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FFFFFF"/>
                </a:solidFill>
                <a:latin typeface="Inter" pitchFamily="34" charset="0"/>
                <a:ea typeface="Inter" pitchFamily="34" charset="-122"/>
                <a:cs typeface="Inter" pitchFamily="34" charset="-120"/>
              </a:rPr>
              <a:t>THE TONE IS HARD</a:t>
            </a:r>
            <a:endParaRPr lang="en-US" sz="1500" dirty="0"/>
          </a:p>
        </p:txBody>
      </p:sp>
      <p:sp>
        <p:nvSpPr>
          <p:cNvPr id="12" name="Text 10"/>
          <p:cNvSpPr/>
          <p:nvPr/>
        </p:nvSpPr>
        <p:spPr>
          <a:xfrm>
            <a:off x="4642788" y="3488784"/>
            <a:ext cx="299358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CFA"/>
                </a:solidFill>
                <a:latin typeface="Inter" pitchFamily="34" charset="0"/>
                <a:ea typeface="Inter" pitchFamily="34" charset="-122"/>
                <a:cs typeface="Inter" pitchFamily="34" charset="-120"/>
              </a:rPr>
              <a:t>Too soft and it is ignored. Too harsh and a good customer is lost. Every message is a judgement call.</a:t>
            </a:r>
            <a:endParaRPr lang="en-US" sz="1500" dirty="0"/>
          </a:p>
        </p:txBody>
      </p:sp>
      <p:sp>
        <p:nvSpPr>
          <p:cNvPr id="13" name="Shape 11"/>
          <p:cNvSpPr/>
          <p:nvPr/>
        </p:nvSpPr>
        <p:spPr>
          <a:xfrm>
            <a:off x="7998871" y="2353289"/>
            <a:ext cx="3373979" cy="2436091"/>
          </a:xfrm>
          <a:prstGeom prst="roundRect">
            <a:avLst>
              <a:gd name="adj" fmla="val 7038"/>
            </a:avLst>
          </a:prstGeom>
          <a:solidFill>
            <a:srgbClr val="111C33"/>
          </a:solidFill>
          <a:ln w="12700">
            <a:solidFill>
              <a:srgbClr val="22345A"/>
            </a:solidFill>
            <a:prstDash val="solid"/>
          </a:ln>
        </p:spPr>
      </p:sp>
      <p:sp>
        <p:nvSpPr>
          <p:cNvPr id="14" name="Text 12"/>
          <p:cNvSpPr/>
          <p:nvPr/>
        </p:nvSpPr>
        <p:spPr>
          <a:xfrm>
            <a:off x="8232667" y="2587084"/>
            <a:ext cx="457200" cy="4572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2240"/>
              </a:lnSpc>
              <a:buNone/>
            </a:pPr>
            <a:r>
              <a:rPr lang="en-US" sz="1600" b="1" dirty="0">
                <a:solidFill>
                  <a:srgbClr val="FFFFFF"/>
                </a:solidFill>
                <a:latin typeface="Inter" pitchFamily="34" charset="0"/>
                <a:ea typeface="Inter" pitchFamily="34" charset="-122"/>
                <a:cs typeface="Inter" pitchFamily="34" charset="-120"/>
              </a:rPr>
              <a:t>3</a:t>
            </a:r>
            <a:endParaRPr lang="en-US" sz="1600" dirty="0"/>
          </a:p>
        </p:txBody>
      </p:sp>
      <p:sp>
        <p:nvSpPr>
          <p:cNvPr id="15" name="Text 13"/>
          <p:cNvSpPr/>
          <p:nvPr/>
        </p:nvSpPr>
        <p:spPr>
          <a:xfrm>
            <a:off x="8232667" y="3133184"/>
            <a:ext cx="299358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FFFFFF"/>
                </a:solidFill>
                <a:latin typeface="Inter" pitchFamily="34" charset="0"/>
                <a:ea typeface="Inter" pitchFamily="34" charset="-122"/>
                <a:cs typeface="Inter" pitchFamily="34" charset="-120"/>
              </a:rPr>
              <a:t>IT TAKES TIME</a:t>
            </a:r>
            <a:endParaRPr lang="en-US" sz="1500" dirty="0"/>
          </a:p>
        </p:txBody>
      </p:sp>
      <p:sp>
        <p:nvSpPr>
          <p:cNvPr id="16" name="Text 14"/>
          <p:cNvSpPr/>
          <p:nvPr/>
        </p:nvSpPr>
        <p:spPr>
          <a:xfrm>
            <a:off x="8232667" y="3488784"/>
            <a:ext cx="2993580"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CFA"/>
                </a:solidFill>
                <a:latin typeface="Inter" pitchFamily="34" charset="0"/>
                <a:ea typeface="Inter" pitchFamily="34" charset="-122"/>
                <a:cs typeface="Inter" pitchFamily="34" charset="-120"/>
              </a:rPr>
              <a:t>Each customer may prefer English, Bahasa Malaysia or Chinese. Writing it well takes minutes, per message.</a:t>
            </a:r>
            <a:endParaRPr lang="en-US" sz="1500" dirty="0"/>
          </a:p>
        </p:txBody>
      </p:sp>
      <p:sp>
        <p:nvSpPr>
          <p:cNvPr id="17" name="Text 15"/>
          <p:cNvSpPr/>
          <p:nvPr/>
        </p:nvSpPr>
        <p:spPr>
          <a:xfrm>
            <a:off x="812800" y="499893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2D3EE"/>
                </a:solidFill>
                <a:latin typeface="Inter" pitchFamily="34" charset="0"/>
                <a:ea typeface="Inter" pitchFamily="34" charset="-122"/>
                <a:cs typeface="Inter" pitchFamily="34" charset="-120"/>
              </a:rPr>
              <a:t>Target user: the owner or finance person of a small Malaysian business that invoices customers on credit.</a:t>
            </a:r>
            <a:endParaRPr lang="en-US" sz="1500" dirty="0"/>
          </a:p>
        </p:txBody>
      </p:sp>
      <p:sp>
        <p:nvSpPr>
          <p:cNvPr id="18" name="Text 16"/>
          <p:cNvSpPr/>
          <p:nvPr/>
        </p:nvSpPr>
        <p:spPr>
          <a:xfrm>
            <a:off x="812800" y="6238263"/>
            <a:ext cx="2822604"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Team ZH · ChaseFlow for Orbyte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12800" y="406400"/>
            <a:ext cx="609600" cy="50800"/>
          </a:xfrm>
          <a:prstGeom prst="roundRect">
            <a:avLst>
              <a:gd name="adj" fmla="val 50000"/>
            </a:avLst>
          </a:prstGeom>
          <a:solidFill>
            <a:srgbClr val="22D3EE"/>
          </a:solidFill>
          <a:ln/>
        </p:spPr>
      </p:sp>
      <p:sp>
        <p:nvSpPr>
          <p:cNvPr id="3" name="Text 1"/>
          <p:cNvSpPr/>
          <p:nvPr/>
        </p:nvSpPr>
        <p:spPr>
          <a:xfrm>
            <a:off x="812800" y="812800"/>
            <a:ext cx="1643135" cy="289538"/>
          </a:xfrm>
          <a:custGeom>
            <a:avLst/>
            <a:gdLst/>
            <a:ahLst/>
            <a:cxnLst/>
            <a:rect l="l" t="t" r="r" b="b"/>
            <a:pathLst>
              <a:path w="1643135" h="289538">
                <a:moveTo>
                  <a:pt x="144769" y="0"/>
                </a:moveTo>
                <a:lnTo>
                  <a:pt x="1498366" y="0"/>
                </a:lnTo>
                <a:arcTo hR="144769" wR="144769" stAng="16200000" swAng="5400000"/>
                <a:lnTo>
                  <a:pt x="1643135" y="144769"/>
                </a:lnTo>
                <a:arcTo hR="144769" wR="144769" stAng="0" swAng="5400000"/>
                <a:lnTo>
                  <a:pt x="144769" y="289538"/>
                </a:lnTo>
                <a:arcTo hR="144769" wR="144769" stAng="5400000" swAng="5400000"/>
                <a:lnTo>
                  <a:pt x="0" y="144769"/>
                </a:lnTo>
                <a:arcTo hR="144769" wR="144769"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THE SOLUTION</a:t>
            </a:r>
            <a:endParaRPr lang="en-US" sz="1200" dirty="0"/>
          </a:p>
        </p:txBody>
      </p:sp>
      <p:sp>
        <p:nvSpPr>
          <p:cNvPr id="4" name="Text 2"/>
          <p:cNvSpPr/>
          <p:nvPr>
            <p:ph type="title"/>
          </p:nvPr>
        </p:nvSpPr>
        <p:spPr>
          <a:xfrm>
            <a:off x="812800" y="1305539"/>
            <a:ext cx="9810750"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FFFFF"/>
                </a:solidFill>
                <a:latin typeface="Inter" pitchFamily="34" charset="0"/>
                <a:ea typeface="Inter" pitchFamily="34" charset="-122"/>
                <a:cs typeface="Inter" pitchFamily="34" charset="-120"/>
              </a:rPr>
              <a:t>One click from "who owes me?" to an approved reminder</a:t>
            </a:r>
            <a:endParaRPr lang="en-US" sz="3000" dirty="0"/>
          </a:p>
        </p:txBody>
      </p:sp>
      <p:sp>
        <p:nvSpPr>
          <p:cNvPr id="5" name="Shape 3"/>
          <p:cNvSpPr/>
          <p:nvPr/>
        </p:nvSpPr>
        <p:spPr>
          <a:xfrm>
            <a:off x="819150" y="2353289"/>
            <a:ext cx="1993431" cy="2202332"/>
          </a:xfrm>
          <a:prstGeom prst="roundRect">
            <a:avLst>
              <a:gd name="adj" fmla="val 8601"/>
            </a:avLst>
          </a:prstGeom>
          <a:solidFill>
            <a:srgbClr val="111C33"/>
          </a:solidFill>
          <a:ln w="12700">
            <a:solidFill>
              <a:srgbClr val="22345A"/>
            </a:solidFill>
            <a:prstDash val="solid"/>
          </a:ln>
        </p:spPr>
      </p:sp>
      <p:sp>
        <p:nvSpPr>
          <p:cNvPr id="6" name="Text 4"/>
          <p:cNvSpPr/>
          <p:nvPr/>
        </p:nvSpPr>
        <p:spPr>
          <a:xfrm>
            <a:off x="1014846" y="2548984"/>
            <a:ext cx="406400" cy="4064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2100"/>
              </a:lnSpc>
              <a:buNone/>
            </a:pPr>
            <a:r>
              <a:rPr lang="en-US" sz="1500" b="1" dirty="0">
                <a:solidFill>
                  <a:srgbClr val="FFFFFF"/>
                </a:solidFill>
                <a:latin typeface="Inter" pitchFamily="34" charset="0"/>
                <a:ea typeface="Inter" pitchFamily="34" charset="-122"/>
                <a:cs typeface="Inter" pitchFamily="34" charset="-120"/>
              </a:rPr>
              <a:t>1</a:t>
            </a:r>
            <a:endParaRPr lang="en-US" sz="1500" dirty="0"/>
          </a:p>
        </p:txBody>
      </p:sp>
      <p:sp>
        <p:nvSpPr>
          <p:cNvPr id="7" name="Text 5"/>
          <p:cNvSpPr/>
          <p:nvPr/>
        </p:nvSpPr>
        <p:spPr>
          <a:xfrm>
            <a:off x="1014846" y="3044284"/>
            <a:ext cx="1652840" cy="327638"/>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Inter" pitchFamily="34" charset="0"/>
                <a:ea typeface="Inter" pitchFamily="34" charset="-122"/>
                <a:cs typeface="Inter" pitchFamily="34" charset="-120"/>
              </a:rPr>
              <a:t>Trigger</a:t>
            </a:r>
            <a:endParaRPr lang="en-US" sz="1700" dirty="0"/>
          </a:p>
        </p:txBody>
      </p:sp>
      <p:sp>
        <p:nvSpPr>
          <p:cNvPr id="8" name="Text 6"/>
          <p:cNvSpPr/>
          <p:nvPr/>
        </p:nvSpPr>
        <p:spPr>
          <a:xfrm>
            <a:off x="1014846" y="3435423"/>
            <a:ext cx="1652840" cy="48765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CFA"/>
                </a:solidFill>
                <a:latin typeface="Inter" pitchFamily="34" charset="0"/>
                <a:ea typeface="Inter" pitchFamily="34" charset="-122"/>
                <a:cs typeface="Inter" pitchFamily="34" charset="-120"/>
              </a:rPr>
              <a:t>Owner clicks Check Overdue</a:t>
            </a:r>
            <a:endParaRPr lang="en-US" sz="1300" dirty="0"/>
          </a:p>
        </p:txBody>
      </p:sp>
      <p:sp>
        <p:nvSpPr>
          <p:cNvPr id="9" name="Shape 7"/>
          <p:cNvSpPr/>
          <p:nvPr/>
        </p:nvSpPr>
        <p:spPr>
          <a:xfrm>
            <a:off x="2964981" y="2353289"/>
            <a:ext cx="1993467" cy="2202332"/>
          </a:xfrm>
          <a:prstGeom prst="roundRect">
            <a:avLst>
              <a:gd name="adj" fmla="val 8601"/>
            </a:avLst>
          </a:prstGeom>
          <a:solidFill>
            <a:srgbClr val="111C33"/>
          </a:solidFill>
          <a:ln w="12700">
            <a:solidFill>
              <a:srgbClr val="22345A"/>
            </a:solidFill>
            <a:prstDash val="solid"/>
          </a:ln>
        </p:spPr>
      </p:sp>
      <p:sp>
        <p:nvSpPr>
          <p:cNvPr id="10" name="Text 8"/>
          <p:cNvSpPr/>
          <p:nvPr/>
        </p:nvSpPr>
        <p:spPr>
          <a:xfrm>
            <a:off x="3160676" y="2548984"/>
            <a:ext cx="406400" cy="4064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2100"/>
              </a:lnSpc>
              <a:buNone/>
            </a:pPr>
            <a:r>
              <a:rPr lang="en-US" sz="1500" b="1" dirty="0">
                <a:solidFill>
                  <a:srgbClr val="FFFFFF"/>
                </a:solidFill>
                <a:latin typeface="Inter" pitchFamily="34" charset="0"/>
                <a:ea typeface="Inter" pitchFamily="34" charset="-122"/>
                <a:cs typeface="Inter" pitchFamily="34" charset="-120"/>
              </a:rPr>
              <a:t>2</a:t>
            </a:r>
            <a:endParaRPr lang="en-US" sz="1500" dirty="0"/>
          </a:p>
        </p:txBody>
      </p:sp>
      <p:sp>
        <p:nvSpPr>
          <p:cNvPr id="11" name="Text 9"/>
          <p:cNvSpPr/>
          <p:nvPr/>
        </p:nvSpPr>
        <p:spPr>
          <a:xfrm>
            <a:off x="3160676" y="3044284"/>
            <a:ext cx="1652876" cy="327638"/>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Inter" pitchFamily="34" charset="0"/>
                <a:ea typeface="Inter" pitchFamily="34" charset="-122"/>
                <a:cs typeface="Inter" pitchFamily="34" charset="-120"/>
              </a:rPr>
              <a:t>Data</a:t>
            </a:r>
            <a:endParaRPr lang="en-US" sz="1700" dirty="0"/>
          </a:p>
        </p:txBody>
      </p:sp>
      <p:sp>
        <p:nvSpPr>
          <p:cNvPr id="12" name="Text 10"/>
          <p:cNvSpPr/>
          <p:nvPr/>
        </p:nvSpPr>
        <p:spPr>
          <a:xfrm>
            <a:off x="3160676" y="3435423"/>
            <a:ext cx="1652876" cy="9499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CFA"/>
                </a:solidFill>
                <a:latin typeface="Inter" pitchFamily="34" charset="0"/>
                <a:ea typeface="Inter" pitchFamily="34" charset="-122"/>
                <a:cs typeface="Inter" pitchFamily="34" charset="-120"/>
              </a:rPr>
              <a:t>Invoices, customers, past reminders, promises to pay</a:t>
            </a:r>
            <a:endParaRPr lang="en-US" sz="1300" dirty="0"/>
          </a:p>
        </p:txBody>
      </p:sp>
      <p:sp>
        <p:nvSpPr>
          <p:cNvPr id="13" name="Shape 11"/>
          <p:cNvSpPr/>
          <p:nvPr/>
        </p:nvSpPr>
        <p:spPr>
          <a:xfrm>
            <a:off x="5110848" y="2353289"/>
            <a:ext cx="1993431" cy="2202332"/>
          </a:xfrm>
          <a:prstGeom prst="roundRect">
            <a:avLst>
              <a:gd name="adj" fmla="val 8601"/>
            </a:avLst>
          </a:prstGeom>
          <a:solidFill>
            <a:srgbClr val="111C33"/>
          </a:solidFill>
          <a:ln w="12700">
            <a:solidFill>
              <a:srgbClr val="22345A"/>
            </a:solidFill>
            <a:prstDash val="solid"/>
          </a:ln>
        </p:spPr>
      </p:sp>
      <p:sp>
        <p:nvSpPr>
          <p:cNvPr id="14" name="Text 12"/>
          <p:cNvSpPr/>
          <p:nvPr/>
        </p:nvSpPr>
        <p:spPr>
          <a:xfrm>
            <a:off x="5306544" y="2548984"/>
            <a:ext cx="406400" cy="4064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2100"/>
              </a:lnSpc>
              <a:buNone/>
            </a:pPr>
            <a:r>
              <a:rPr lang="en-US" sz="1500" b="1" dirty="0">
                <a:solidFill>
                  <a:srgbClr val="FFFFFF"/>
                </a:solidFill>
                <a:latin typeface="Inter" pitchFamily="34" charset="0"/>
                <a:ea typeface="Inter" pitchFamily="34" charset="-122"/>
                <a:cs typeface="Inter" pitchFamily="34" charset="-120"/>
              </a:rPr>
              <a:t>3</a:t>
            </a:r>
            <a:endParaRPr lang="en-US" sz="1500" dirty="0"/>
          </a:p>
        </p:txBody>
      </p:sp>
      <p:sp>
        <p:nvSpPr>
          <p:cNvPr id="15" name="Text 13"/>
          <p:cNvSpPr/>
          <p:nvPr/>
        </p:nvSpPr>
        <p:spPr>
          <a:xfrm>
            <a:off x="5306544" y="3044284"/>
            <a:ext cx="1652840" cy="327638"/>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Inter" pitchFamily="34" charset="0"/>
                <a:ea typeface="Inter" pitchFamily="34" charset="-122"/>
                <a:cs typeface="Inter" pitchFamily="34" charset="-120"/>
              </a:rPr>
              <a:t>Decision</a:t>
            </a:r>
            <a:endParaRPr lang="en-US" sz="1700" dirty="0"/>
          </a:p>
        </p:txBody>
      </p:sp>
      <p:sp>
        <p:nvSpPr>
          <p:cNvPr id="16" name="Text 14"/>
          <p:cNvSpPr/>
          <p:nvPr/>
        </p:nvSpPr>
        <p:spPr>
          <a:xfrm>
            <a:off x="5306544" y="3435423"/>
            <a:ext cx="1652840" cy="9499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CFA"/>
                </a:solidFill>
                <a:latin typeface="Inter" pitchFamily="34" charset="0"/>
                <a:ea typeface="Inter" pitchFamily="34" charset="-122"/>
                <a:cs typeface="Inter" pitchFamily="34" charset="-120"/>
              </a:rPr>
              <a:t>Rules set the risk tier. AI explains it and drafts the message</a:t>
            </a:r>
            <a:endParaRPr lang="en-US" sz="1300" dirty="0"/>
          </a:p>
        </p:txBody>
      </p:sp>
      <p:sp>
        <p:nvSpPr>
          <p:cNvPr id="17" name="Shape 15"/>
          <p:cNvSpPr/>
          <p:nvPr/>
        </p:nvSpPr>
        <p:spPr>
          <a:xfrm>
            <a:off x="7256680" y="2353289"/>
            <a:ext cx="1993431" cy="2202332"/>
          </a:xfrm>
          <a:prstGeom prst="roundRect">
            <a:avLst>
              <a:gd name="adj" fmla="val 8601"/>
            </a:avLst>
          </a:prstGeom>
          <a:solidFill>
            <a:srgbClr val="111C33"/>
          </a:solidFill>
          <a:ln w="12700">
            <a:solidFill>
              <a:srgbClr val="22345A"/>
            </a:solidFill>
            <a:prstDash val="solid"/>
          </a:ln>
        </p:spPr>
      </p:sp>
      <p:sp>
        <p:nvSpPr>
          <p:cNvPr id="18" name="Text 16"/>
          <p:cNvSpPr/>
          <p:nvPr/>
        </p:nvSpPr>
        <p:spPr>
          <a:xfrm>
            <a:off x="7452375" y="2548984"/>
            <a:ext cx="406400" cy="4064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2100"/>
              </a:lnSpc>
              <a:buNone/>
            </a:pPr>
            <a:r>
              <a:rPr lang="en-US" sz="1500" b="1" dirty="0">
                <a:solidFill>
                  <a:srgbClr val="FFFFFF"/>
                </a:solidFill>
                <a:latin typeface="Inter" pitchFamily="34" charset="0"/>
                <a:ea typeface="Inter" pitchFamily="34" charset="-122"/>
                <a:cs typeface="Inter" pitchFamily="34" charset="-120"/>
              </a:rPr>
              <a:t>4</a:t>
            </a:r>
            <a:endParaRPr lang="en-US" sz="1500" dirty="0"/>
          </a:p>
        </p:txBody>
      </p:sp>
      <p:sp>
        <p:nvSpPr>
          <p:cNvPr id="19" name="Text 17"/>
          <p:cNvSpPr/>
          <p:nvPr/>
        </p:nvSpPr>
        <p:spPr>
          <a:xfrm>
            <a:off x="7452375" y="3044284"/>
            <a:ext cx="1652840" cy="327638"/>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Inter" pitchFamily="34" charset="0"/>
                <a:ea typeface="Inter" pitchFamily="34" charset="-122"/>
                <a:cs typeface="Inter" pitchFamily="34" charset="-120"/>
              </a:rPr>
              <a:t>Approval</a:t>
            </a:r>
            <a:endParaRPr lang="en-US" sz="1700" dirty="0"/>
          </a:p>
        </p:txBody>
      </p:sp>
      <p:sp>
        <p:nvSpPr>
          <p:cNvPr id="20" name="Text 18"/>
          <p:cNvSpPr/>
          <p:nvPr/>
        </p:nvSpPr>
        <p:spPr>
          <a:xfrm>
            <a:off x="7452375" y="3435423"/>
            <a:ext cx="1652840" cy="71877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CFA"/>
                </a:solidFill>
                <a:latin typeface="Inter" pitchFamily="34" charset="0"/>
                <a:ea typeface="Inter" pitchFamily="34" charset="-122"/>
                <a:cs typeface="Inter" pitchFamily="34" charset="-120"/>
              </a:rPr>
              <a:t>Owner edits and approves. Nothing goes out without it</a:t>
            </a:r>
            <a:endParaRPr lang="en-US" sz="1300" dirty="0"/>
          </a:p>
        </p:txBody>
      </p:sp>
      <p:sp>
        <p:nvSpPr>
          <p:cNvPr id="21" name="Shape 19"/>
          <p:cNvSpPr/>
          <p:nvPr/>
        </p:nvSpPr>
        <p:spPr>
          <a:xfrm>
            <a:off x="9396161" y="2346939"/>
            <a:ext cx="1983040" cy="2215032"/>
          </a:xfrm>
          <a:prstGeom prst="roundRect">
            <a:avLst>
              <a:gd name="adj" fmla="val 8966"/>
            </a:avLst>
          </a:prstGeom>
          <a:solidFill>
            <a:srgbClr val="2563EB"/>
          </a:solidFill>
          <a:ln/>
        </p:spPr>
      </p:sp>
      <p:sp>
        <p:nvSpPr>
          <p:cNvPr id="22" name="Text 20"/>
          <p:cNvSpPr/>
          <p:nvPr/>
        </p:nvSpPr>
        <p:spPr>
          <a:xfrm>
            <a:off x="9586661" y="2537439"/>
            <a:ext cx="406400" cy="406400"/>
          </a:xfrm>
          <a:prstGeom prst="roundRect">
            <a:avLst>
              <a:gd name="adj" fmla="val 50000"/>
            </a:avLst>
          </a:prstGeom>
          <a:solidFill>
            <a:srgbClr val="FBBF24"/>
          </a:solidFill>
          <a:ln/>
        </p:spPr>
        <p:txBody>
          <a:bodyPr wrap="square" lIns="0" tIns="0" rIns="0" bIns="0" rtlCol="0" anchor="ctr">
            <a:normAutofit/>
          </a:bodyPr>
          <a:lstStyle/>
          <a:p>
            <a:pPr algn="ctr" indent="0" marL="0">
              <a:lnSpc>
                <a:spcPts val="2100"/>
              </a:lnSpc>
              <a:buNone/>
            </a:pPr>
            <a:r>
              <a:rPr lang="en-US" sz="1500" b="1" dirty="0">
                <a:solidFill>
                  <a:srgbClr val="0B1220"/>
                </a:solidFill>
                <a:latin typeface="Inter" pitchFamily="34" charset="0"/>
                <a:ea typeface="Inter" pitchFamily="34" charset="-122"/>
                <a:cs typeface="Inter" pitchFamily="34" charset="-120"/>
              </a:rPr>
              <a:t>5</a:t>
            </a:r>
            <a:endParaRPr lang="en-US" sz="1500" dirty="0"/>
          </a:p>
        </p:txBody>
      </p:sp>
      <p:sp>
        <p:nvSpPr>
          <p:cNvPr id="23" name="Text 21"/>
          <p:cNvSpPr/>
          <p:nvPr/>
        </p:nvSpPr>
        <p:spPr>
          <a:xfrm>
            <a:off x="9586661" y="3032739"/>
            <a:ext cx="1652840" cy="327638"/>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Inter" pitchFamily="34" charset="0"/>
                <a:ea typeface="Inter" pitchFamily="34" charset="-122"/>
                <a:cs typeface="Inter" pitchFamily="34" charset="-120"/>
              </a:rPr>
              <a:t>Outcome</a:t>
            </a:r>
            <a:endParaRPr lang="en-US" sz="1700" dirty="0"/>
          </a:p>
        </p:txBody>
      </p:sp>
      <p:sp>
        <p:nvSpPr>
          <p:cNvPr id="24" name="Text 22"/>
          <p:cNvSpPr/>
          <p:nvPr/>
        </p:nvSpPr>
        <p:spPr>
          <a:xfrm>
            <a:off x="9586661" y="3423878"/>
            <a:ext cx="1652840" cy="94990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CFA"/>
                </a:solidFill>
                <a:latin typeface="Inter" pitchFamily="34" charset="0"/>
                <a:ea typeface="Inter" pitchFamily="34" charset="-122"/>
                <a:cs typeface="Inter" pitchFamily="34" charset="-120"/>
              </a:rPr>
              <a:t>Simulated send, activity log, Promise-to-Pay tracking</a:t>
            </a:r>
            <a:endParaRPr lang="en-US" sz="1300" dirty="0"/>
          </a:p>
        </p:txBody>
      </p:sp>
      <p:sp>
        <p:nvSpPr>
          <p:cNvPr id="25" name="Text 23"/>
          <p:cNvSpPr/>
          <p:nvPr/>
        </p:nvSpPr>
        <p:spPr>
          <a:xfrm>
            <a:off x="812800" y="4765171"/>
            <a:ext cx="11379200" cy="27431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A0C6"/>
                </a:solidFill>
                <a:latin typeface="Inter" pitchFamily="34" charset="0"/>
                <a:ea typeface="Inter" pitchFamily="34" charset="-122"/>
                <a:cs typeface="Inter" pitchFamily="34" charset="-120"/>
              </a:rPr>
              <a:t>Built for the Orbyte challenge with synthetic data. It does not connect to real Orbyte accounts and sends no real messages.</a:t>
            </a:r>
            <a:endParaRPr lang="en-US" sz="1400" dirty="0"/>
          </a:p>
        </p:txBody>
      </p:sp>
      <p:sp>
        <p:nvSpPr>
          <p:cNvPr id="26" name="Text 24"/>
          <p:cNvSpPr/>
          <p:nvPr/>
        </p:nvSpPr>
        <p:spPr>
          <a:xfrm>
            <a:off x="812800" y="6238261"/>
            <a:ext cx="2822604"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Team ZH · ChaseFlow for Orbyte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12800" y="406400"/>
            <a:ext cx="609600" cy="50800"/>
          </a:xfrm>
          <a:prstGeom prst="roundRect">
            <a:avLst>
              <a:gd name="adj" fmla="val 50000"/>
            </a:avLst>
          </a:prstGeom>
          <a:solidFill>
            <a:srgbClr val="22D3EE"/>
          </a:solidFill>
          <a:ln/>
        </p:spPr>
      </p:sp>
      <p:sp>
        <p:nvSpPr>
          <p:cNvPr id="3" name="Text 1"/>
          <p:cNvSpPr/>
          <p:nvPr/>
        </p:nvSpPr>
        <p:spPr>
          <a:xfrm>
            <a:off x="812800" y="812800"/>
            <a:ext cx="1906732" cy="289538"/>
          </a:xfrm>
          <a:custGeom>
            <a:avLst/>
            <a:gdLst/>
            <a:ahLst/>
            <a:cxnLst/>
            <a:rect l="l" t="t" r="r" b="b"/>
            <a:pathLst>
              <a:path w="1906732" h="289538">
                <a:moveTo>
                  <a:pt x="144769" y="0"/>
                </a:moveTo>
                <a:lnTo>
                  <a:pt x="1761963" y="0"/>
                </a:lnTo>
                <a:arcTo hR="144769" wR="144769" stAng="16200000" swAng="5400000"/>
                <a:lnTo>
                  <a:pt x="1906732" y="144769"/>
                </a:lnTo>
                <a:arcTo hR="144769" wR="144769" stAng="0" swAng="5400000"/>
                <a:lnTo>
                  <a:pt x="144769" y="289538"/>
                </a:lnTo>
                <a:arcTo hR="144769" wR="144769" stAng="5400000" swAng="5400000"/>
                <a:lnTo>
                  <a:pt x="0" y="144769"/>
                </a:lnTo>
                <a:arcTo hR="144769" wR="144769"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FIT WITH ORBYTE</a:t>
            </a:r>
            <a:endParaRPr lang="en-US" sz="1200" dirty="0"/>
          </a:p>
        </p:txBody>
      </p:sp>
      <p:sp>
        <p:nvSpPr>
          <p:cNvPr id="4" name="Text 2"/>
          <p:cNvSpPr/>
          <p:nvPr>
            <p:ph type="title"/>
          </p:nvPr>
        </p:nvSpPr>
        <p:spPr>
          <a:xfrm>
            <a:off x="812800" y="1305539"/>
            <a:ext cx="10464800"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FFFFF"/>
                </a:solidFill>
                <a:latin typeface="Inter" pitchFamily="34" charset="0"/>
                <a:ea typeface="Inter" pitchFamily="34" charset="-122"/>
                <a:cs typeface="Inter" pitchFamily="34" charset="-120"/>
              </a:rPr>
              <a:t>A new Orbyte module, not a copy of one</a:t>
            </a:r>
            <a:endParaRPr lang="en-US" sz="3200" dirty="0"/>
          </a:p>
        </p:txBody>
      </p:sp>
      <p:sp>
        <p:nvSpPr>
          <p:cNvPr id="5" name="Shape 3"/>
          <p:cNvSpPr/>
          <p:nvPr/>
        </p:nvSpPr>
        <p:spPr>
          <a:xfrm>
            <a:off x="819150" y="1962116"/>
            <a:ext cx="5180445" cy="2433169"/>
          </a:xfrm>
          <a:prstGeom prst="roundRect">
            <a:avLst>
              <a:gd name="adj" fmla="val 7046"/>
            </a:avLst>
          </a:prstGeom>
          <a:solidFill>
            <a:srgbClr val="111C33"/>
          </a:solidFill>
          <a:ln w="12700">
            <a:solidFill>
              <a:srgbClr val="22345A"/>
            </a:solidFill>
            <a:prstDash val="solid"/>
          </a:ln>
        </p:spPr>
      </p:sp>
      <p:sp>
        <p:nvSpPr>
          <p:cNvPr id="6" name="Text 4"/>
          <p:cNvSpPr/>
          <p:nvPr/>
        </p:nvSpPr>
        <p:spPr>
          <a:xfrm>
            <a:off x="1078346" y="2221309"/>
            <a:ext cx="4801916" cy="274313"/>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FA0C6"/>
                </a:solidFill>
                <a:latin typeface="Inter" pitchFamily="34" charset="0"/>
                <a:ea typeface="Inter" pitchFamily="34" charset="-122"/>
                <a:cs typeface="Inter" pitchFamily="34" charset="-120"/>
              </a:rPr>
              <a:t>ORBYTE TODAY (ORGANISERS' LIST)</a:t>
            </a:r>
            <a:endParaRPr lang="en-US" sz="1400" dirty="0"/>
          </a:p>
        </p:txBody>
      </p:sp>
      <p:sp>
        <p:nvSpPr>
          <p:cNvPr id="7" name="Text 5"/>
          <p:cNvSpPr/>
          <p:nvPr/>
        </p:nvSpPr>
        <p:spPr>
          <a:xfrm>
            <a:off x="1078346" y="2559124"/>
            <a:ext cx="4801916" cy="30985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CFA"/>
                </a:solidFill>
                <a:latin typeface="Inter" pitchFamily="34" charset="0"/>
                <a:ea typeface="Inter" pitchFamily="34" charset="-122"/>
                <a:cs typeface="Inter" pitchFamily="34" charset="-120"/>
              </a:rPr>
              <a:t>Live: People, Hiring, Work, eSign, Connect</a:t>
            </a:r>
            <a:endParaRPr lang="en-US" sz="1600" dirty="0"/>
          </a:p>
        </p:txBody>
      </p:sp>
      <p:sp>
        <p:nvSpPr>
          <p:cNvPr id="8" name="Text 6"/>
          <p:cNvSpPr/>
          <p:nvPr/>
        </p:nvSpPr>
        <p:spPr>
          <a:xfrm>
            <a:off x="1078346" y="2932475"/>
            <a:ext cx="4801916" cy="30985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CFA"/>
                </a:solidFill>
                <a:latin typeface="Inter" pitchFamily="34" charset="0"/>
                <a:ea typeface="Inter" pitchFamily="34" charset="-122"/>
                <a:cs typeface="Inter" pitchFamily="34" charset="-120"/>
              </a:rPr>
              <a:t>Planned: Travel, Insights, Government</a:t>
            </a:r>
            <a:endParaRPr lang="en-US" sz="1600" dirty="0"/>
          </a:p>
        </p:txBody>
      </p:sp>
      <p:sp>
        <p:nvSpPr>
          <p:cNvPr id="9" name="Text 7"/>
          <p:cNvSpPr/>
          <p:nvPr/>
        </p:nvSpPr>
        <p:spPr>
          <a:xfrm>
            <a:off x="1078346" y="3305826"/>
            <a:ext cx="480191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8FA0C6"/>
                </a:solidFill>
                <a:latin typeface="Inter" pitchFamily="34" charset="0"/>
                <a:ea typeface="Inter" pitchFamily="34" charset="-122"/>
                <a:cs typeface="Inter" pitchFamily="34" charset="-120"/>
              </a:rPr>
              <a:t>Invoice collections is not among them.</a:t>
            </a:r>
            <a:endParaRPr lang="en-US" sz="1500" dirty="0"/>
          </a:p>
        </p:txBody>
      </p:sp>
      <p:sp>
        <p:nvSpPr>
          <p:cNvPr id="10" name="Shape 8"/>
          <p:cNvSpPr/>
          <p:nvPr/>
        </p:nvSpPr>
        <p:spPr>
          <a:xfrm>
            <a:off x="6209146" y="1955766"/>
            <a:ext cx="5170055" cy="2445869"/>
          </a:xfrm>
          <a:prstGeom prst="roundRect">
            <a:avLst>
              <a:gd name="adj" fmla="val 7269"/>
            </a:avLst>
          </a:prstGeom>
          <a:solidFill>
            <a:srgbClr val="2563EB"/>
          </a:solidFill>
          <a:ln/>
        </p:spPr>
      </p:sp>
      <p:sp>
        <p:nvSpPr>
          <p:cNvPr id="11" name="Text 9"/>
          <p:cNvSpPr/>
          <p:nvPr/>
        </p:nvSpPr>
        <p:spPr>
          <a:xfrm>
            <a:off x="6463146" y="2209766"/>
            <a:ext cx="4801916" cy="274313"/>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BBF24"/>
                </a:solidFill>
                <a:latin typeface="Inter" pitchFamily="34" charset="0"/>
                <a:ea typeface="Inter" pitchFamily="34" charset="-122"/>
                <a:cs typeface="Inter" pitchFamily="34" charset="-120"/>
              </a:rPr>
              <a:t>WHAT CHASEFLOW ADDS</a:t>
            </a:r>
            <a:endParaRPr lang="en-US" sz="1400" dirty="0"/>
          </a:p>
        </p:txBody>
      </p:sp>
      <p:sp>
        <p:nvSpPr>
          <p:cNvPr id="12" name="Text 10"/>
          <p:cNvSpPr/>
          <p:nvPr/>
        </p:nvSpPr>
        <p:spPr>
          <a:xfrm>
            <a:off x="6463146" y="2547578"/>
            <a:ext cx="4801916" cy="59430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A connected hub for one recurring burden: chasing overdue invoices</a:t>
            </a:r>
            <a:endParaRPr lang="en-US" sz="1600" dirty="0"/>
          </a:p>
        </p:txBody>
      </p:sp>
      <p:sp>
        <p:nvSpPr>
          <p:cNvPr id="13" name="Text 11"/>
          <p:cNvSpPr/>
          <p:nvPr/>
        </p:nvSpPr>
        <p:spPr>
          <a:xfrm>
            <a:off x="6463146" y="3205380"/>
            <a:ext cx="4801916" cy="594302"/>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Uses customer contact and language data that would come from People and Connect</a:t>
            </a:r>
            <a:endParaRPr lang="en-US" sz="1600" dirty="0"/>
          </a:p>
        </p:txBody>
      </p:sp>
      <p:sp>
        <p:nvSpPr>
          <p:cNvPr id="14" name="Text 12"/>
          <p:cNvSpPr/>
          <p:nvPr/>
        </p:nvSpPr>
        <p:spPr>
          <a:xfrm>
            <a:off x="6463146" y="3863181"/>
            <a:ext cx="4801916" cy="30985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Reusable by any SME, no training needed</a:t>
            </a:r>
            <a:endParaRPr lang="en-US" sz="1600" dirty="0"/>
          </a:p>
        </p:txBody>
      </p:sp>
      <p:sp>
        <p:nvSpPr>
          <p:cNvPr id="15" name="Text 13"/>
          <p:cNvSpPr/>
          <p:nvPr/>
        </p:nvSpPr>
        <p:spPr>
          <a:xfrm>
            <a:off x="812800" y="4604832"/>
            <a:ext cx="10883392" cy="48765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0C6"/>
                </a:solidFill>
                <a:latin typeface="Inter" pitchFamily="34" charset="0"/>
                <a:ea typeface="Inter" pitchFamily="34" charset="-122"/>
                <a:cs typeface="Inter" pitchFamily="34" charset="-120"/>
              </a:rPr>
              <a:t>Based on the organisers' clarification. The Orbyte link is conceptual: the prototype is styled as an Orbyte module with synthetic data and does not call Orbyte.</a:t>
            </a:r>
            <a:endParaRPr lang="en-US" sz="1300" dirty="0"/>
          </a:p>
        </p:txBody>
      </p:sp>
      <p:sp>
        <p:nvSpPr>
          <p:cNvPr id="16" name="Text 14"/>
          <p:cNvSpPr/>
          <p:nvPr/>
        </p:nvSpPr>
        <p:spPr>
          <a:xfrm>
            <a:off x="812800" y="6238264"/>
            <a:ext cx="2822604"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Team ZH · ChaseFlow for Orbyte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12800" y="406400"/>
            <a:ext cx="609600" cy="50800"/>
          </a:xfrm>
          <a:prstGeom prst="roundRect">
            <a:avLst>
              <a:gd name="adj" fmla="val 50000"/>
            </a:avLst>
          </a:prstGeom>
          <a:solidFill>
            <a:srgbClr val="22D3EE"/>
          </a:solidFill>
          <a:ln/>
        </p:spPr>
      </p:sp>
      <p:sp>
        <p:nvSpPr>
          <p:cNvPr id="3" name="Text 1"/>
          <p:cNvSpPr/>
          <p:nvPr/>
        </p:nvSpPr>
        <p:spPr>
          <a:xfrm>
            <a:off x="812800" y="812800"/>
            <a:ext cx="1583820" cy="289538"/>
          </a:xfrm>
          <a:custGeom>
            <a:avLst/>
            <a:gdLst/>
            <a:ahLst/>
            <a:cxnLst/>
            <a:rect l="l" t="t" r="r" b="b"/>
            <a:pathLst>
              <a:path w="1583820" h="289538">
                <a:moveTo>
                  <a:pt x="144769" y="0"/>
                </a:moveTo>
                <a:lnTo>
                  <a:pt x="1439051" y="0"/>
                </a:lnTo>
                <a:arcTo hR="144769" wR="144769" stAng="16200000" swAng="5400000"/>
                <a:lnTo>
                  <a:pt x="1583820" y="144769"/>
                </a:lnTo>
                <a:arcTo hR="144769" wR="144769" stAng="0" swAng="5400000"/>
                <a:lnTo>
                  <a:pt x="144769" y="289538"/>
                </a:lnTo>
                <a:arcTo hR="144769" wR="144769" stAng="5400000" swAng="5400000"/>
                <a:lnTo>
                  <a:pt x="0" y="144769"/>
                </a:lnTo>
                <a:arcTo hR="144769" wR="144769"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THE PRODUCT</a:t>
            </a:r>
            <a:endParaRPr lang="en-US" sz="1200" dirty="0"/>
          </a:p>
        </p:txBody>
      </p:sp>
      <p:sp>
        <p:nvSpPr>
          <p:cNvPr id="4" name="Text 2"/>
          <p:cNvSpPr/>
          <p:nvPr>
            <p:ph type="title"/>
          </p:nvPr>
        </p:nvSpPr>
        <p:spPr>
          <a:xfrm>
            <a:off x="812800" y="1305539"/>
            <a:ext cx="104648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FFFFF"/>
                </a:solidFill>
                <a:latin typeface="Inter" pitchFamily="34" charset="0"/>
                <a:ea typeface="Inter" pitchFamily="34" charset="-122"/>
                <a:cs typeface="Inter" pitchFamily="34" charset="-120"/>
              </a:rPr>
              <a:t>See who is overdue, and what they promised</a:t>
            </a:r>
            <a:endParaRPr lang="en-US" sz="3000" dirty="0"/>
          </a:p>
        </p:txBody>
      </p:sp>
      <p:pic>
        <p:nvPicPr>
          <p:cNvPr id="5" name="Image 0" descr="">    </p:cNvPr>
          <p:cNvPicPr>
            <a:picLocks noChangeAspect="1"/>
          </p:cNvPicPr>
          <p:nvPr/>
        </p:nvPicPr>
        <p:blipFill>
          <a:blip r:embed="rId1"/>
          <a:srcRect l="0" r="0" t="90" b="90"/>
          <a:stretch/>
        </p:blipFill>
        <p:spPr>
          <a:xfrm>
            <a:off x="825500" y="1940539"/>
            <a:ext cx="5435600" cy="3467100"/>
          </a:xfrm>
          <a:prstGeom prst="roundRect">
            <a:avLst>
              <a:gd name="adj" fmla="val 3297"/>
            </a:avLst>
          </a:prstGeom>
        </p:spPr>
      </p:pic>
      <p:sp>
        <p:nvSpPr>
          <p:cNvPr id="6" name="Shape 3"/>
          <p:cNvSpPr/>
          <p:nvPr/>
        </p:nvSpPr>
        <p:spPr>
          <a:xfrm>
            <a:off x="819150" y="1934189"/>
            <a:ext cx="5448300" cy="3479800"/>
          </a:xfrm>
          <a:prstGeom prst="roundRect">
            <a:avLst>
              <a:gd name="adj" fmla="val 3467"/>
            </a:avLst>
          </a:prstGeom>
          <a:noFill/>
          <a:ln w="12700">
            <a:solidFill>
              <a:srgbClr val="2B3F6B"/>
            </a:solidFill>
            <a:prstDash val="solid"/>
          </a:ln>
        </p:spPr>
      </p:sp>
      <p:sp>
        <p:nvSpPr>
          <p:cNvPr id="7" name="Text 4"/>
          <p:cNvSpPr/>
          <p:nvPr/>
        </p:nvSpPr>
        <p:spPr>
          <a:xfrm>
            <a:off x="812800" y="5509239"/>
            <a:ext cx="5228796" cy="2565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0C6"/>
                </a:solidFill>
                <a:latin typeface="Inter" pitchFamily="34" charset="0"/>
                <a:ea typeface="Inter" pitchFamily="34" charset="-122"/>
                <a:cs typeface="Inter" pitchFamily="34" charset="-120"/>
              </a:rPr>
              <a:t>Check Overdue: invoices ranked by risk tier</a:t>
            </a:r>
            <a:endParaRPr lang="en-US" sz="1300" dirty="0"/>
          </a:p>
        </p:txBody>
      </p:sp>
      <p:pic>
        <p:nvPicPr>
          <p:cNvPr id="8" name="Image 1" descr="">    </p:cNvPr>
          <p:cNvPicPr>
            <a:picLocks noChangeAspect="1"/>
          </p:cNvPicPr>
          <p:nvPr/>
        </p:nvPicPr>
        <p:blipFill>
          <a:blip r:embed="rId2"/>
          <a:srcRect l="0" r="0" t="59" b="59"/>
          <a:stretch/>
        </p:blipFill>
        <p:spPr>
          <a:xfrm>
            <a:off x="6156001" y="1940539"/>
            <a:ext cx="4356100" cy="3194050"/>
          </a:xfrm>
          <a:prstGeom prst="roundRect">
            <a:avLst>
              <a:gd name="adj" fmla="val 3579"/>
            </a:avLst>
          </a:prstGeom>
        </p:spPr>
      </p:pic>
      <p:sp>
        <p:nvSpPr>
          <p:cNvPr id="9" name="Shape 5"/>
          <p:cNvSpPr/>
          <p:nvPr/>
        </p:nvSpPr>
        <p:spPr>
          <a:xfrm>
            <a:off x="6149651" y="1934189"/>
            <a:ext cx="4368800" cy="3206750"/>
          </a:xfrm>
          <a:prstGeom prst="roundRect">
            <a:avLst>
              <a:gd name="adj" fmla="val 3762"/>
            </a:avLst>
          </a:prstGeom>
          <a:noFill/>
          <a:ln w="12700">
            <a:solidFill>
              <a:srgbClr val="2B3F6B"/>
            </a:solidFill>
            <a:prstDash val="solid"/>
          </a:ln>
        </p:spPr>
      </p:sp>
      <p:sp>
        <p:nvSpPr>
          <p:cNvPr id="10" name="Text 6"/>
          <p:cNvSpPr/>
          <p:nvPr/>
        </p:nvSpPr>
        <p:spPr>
          <a:xfrm>
            <a:off x="6143301" y="5236189"/>
            <a:ext cx="5392977" cy="48765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0C6"/>
                </a:solidFill>
                <a:latin typeface="Inter" pitchFamily="34" charset="0"/>
                <a:ea typeface="Inter" pitchFamily="34" charset="-122"/>
                <a:cs typeface="Inter" pitchFamily="34" charset="-120"/>
              </a:rPr>
              <a:t>Promise-to-Pay: status worked out from the invoice's recorded payment</a:t>
            </a:r>
            <a:endParaRPr lang="en-US" sz="1300" dirty="0"/>
          </a:p>
        </p:txBody>
      </p:sp>
      <p:sp>
        <p:nvSpPr>
          <p:cNvPr id="11" name="Text 7"/>
          <p:cNvSpPr/>
          <p:nvPr/>
        </p:nvSpPr>
        <p:spPr>
          <a:xfrm>
            <a:off x="812800" y="6238264"/>
            <a:ext cx="491438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Screens from the working prototype · synthetic data only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12800" y="406400"/>
            <a:ext cx="609600" cy="50800"/>
          </a:xfrm>
          <a:prstGeom prst="roundRect">
            <a:avLst>
              <a:gd name="adj" fmla="val 50000"/>
            </a:avLst>
          </a:prstGeom>
          <a:solidFill>
            <a:srgbClr val="22D3EE"/>
          </a:solidFill>
          <a:ln/>
        </p:spPr>
      </p:sp>
      <p:sp>
        <p:nvSpPr>
          <p:cNvPr id="3" name="Text 1"/>
          <p:cNvSpPr/>
          <p:nvPr/>
        </p:nvSpPr>
        <p:spPr>
          <a:xfrm>
            <a:off x="812800" y="812800"/>
            <a:ext cx="4273911" cy="289538"/>
          </a:xfrm>
          <a:custGeom>
            <a:avLst/>
            <a:gdLst/>
            <a:ahLst/>
            <a:cxnLst/>
            <a:rect l="l" t="t" r="r" b="b"/>
            <a:pathLst>
              <a:path w="4273911" h="289538">
                <a:moveTo>
                  <a:pt x="144769" y="0"/>
                </a:moveTo>
                <a:lnTo>
                  <a:pt x="4129142" y="0"/>
                </a:lnTo>
                <a:arcTo hR="144769" wR="144769" stAng="16200000" swAng="5400000"/>
                <a:lnTo>
                  <a:pt x="4273911" y="144769"/>
                </a:lnTo>
                <a:arcTo hR="144769" wR="144769" stAng="0" swAng="5400000"/>
                <a:lnTo>
                  <a:pt x="144769" y="289538"/>
                </a:lnTo>
                <a:arcTo hR="144769" wR="144769" stAng="5400000" swAng="5400000"/>
                <a:lnTo>
                  <a:pt x="0" y="144769"/>
                </a:lnTo>
                <a:arcTo hR="144769" wR="144769"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WHERE AI HELPS, AND WHERE IT DOES NOT</a:t>
            </a:r>
            <a:endParaRPr lang="en-US" sz="1200" dirty="0"/>
          </a:p>
        </p:txBody>
      </p:sp>
      <p:sp>
        <p:nvSpPr>
          <p:cNvPr id="4" name="Text 2"/>
          <p:cNvSpPr/>
          <p:nvPr>
            <p:ph type="title"/>
          </p:nvPr>
        </p:nvSpPr>
        <p:spPr>
          <a:xfrm>
            <a:off x="812800" y="1305539"/>
            <a:ext cx="104648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FFFFF"/>
                </a:solidFill>
                <a:latin typeface="Inter" pitchFamily="34" charset="0"/>
                <a:ea typeface="Inter" pitchFamily="34" charset="-122"/>
                <a:cs typeface="Inter" pitchFamily="34" charset="-120"/>
              </a:rPr>
              <a:t>Rules first. AI second. A human approves.</a:t>
            </a:r>
            <a:endParaRPr lang="en-US" sz="3000" dirty="0"/>
          </a:p>
        </p:txBody>
      </p:sp>
      <p:pic>
        <p:nvPicPr>
          <p:cNvPr id="5" name="Image 0" descr="">    </p:cNvPr>
          <p:cNvPicPr>
            <a:picLocks noChangeAspect="1"/>
          </p:cNvPicPr>
          <p:nvPr/>
        </p:nvPicPr>
        <p:blipFill>
          <a:blip r:embed="rId1"/>
          <a:srcRect l="0" r="0" t="85" b="85"/>
          <a:stretch/>
        </p:blipFill>
        <p:spPr>
          <a:xfrm>
            <a:off x="825500" y="1940539"/>
            <a:ext cx="5435600" cy="3371850"/>
          </a:xfrm>
          <a:prstGeom prst="roundRect">
            <a:avLst>
              <a:gd name="adj" fmla="val 3390"/>
            </a:avLst>
          </a:prstGeom>
        </p:spPr>
      </p:pic>
      <p:sp>
        <p:nvSpPr>
          <p:cNvPr id="6" name="Shape 3"/>
          <p:cNvSpPr/>
          <p:nvPr/>
        </p:nvSpPr>
        <p:spPr>
          <a:xfrm>
            <a:off x="819150" y="1934189"/>
            <a:ext cx="5448300" cy="3384550"/>
          </a:xfrm>
          <a:prstGeom prst="roundRect">
            <a:avLst>
              <a:gd name="adj" fmla="val 3565"/>
            </a:avLst>
          </a:prstGeom>
          <a:noFill/>
          <a:ln w="12700">
            <a:solidFill>
              <a:srgbClr val="2B3F6B"/>
            </a:solidFill>
            <a:prstDash val="solid"/>
          </a:ln>
        </p:spPr>
      </p:sp>
      <p:sp>
        <p:nvSpPr>
          <p:cNvPr id="7" name="Text 4"/>
          <p:cNvSpPr/>
          <p:nvPr/>
        </p:nvSpPr>
        <p:spPr>
          <a:xfrm>
            <a:off x="812800" y="5413989"/>
            <a:ext cx="5624830" cy="2565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0C6"/>
                </a:solidFill>
                <a:latin typeface="Inter" pitchFamily="34" charset="0"/>
                <a:ea typeface="Inter" pitchFamily="34" charset="-122"/>
                <a:cs typeface="Inter" pitchFamily="34" charset="-120"/>
              </a:rPr>
              <a:t>A real Gemini draft, ready for the owner to edit</a:t>
            </a:r>
            <a:endParaRPr lang="en-US" sz="1300" dirty="0"/>
          </a:p>
        </p:txBody>
      </p:sp>
      <p:sp>
        <p:nvSpPr>
          <p:cNvPr id="8" name="Shape 5"/>
          <p:cNvSpPr/>
          <p:nvPr/>
        </p:nvSpPr>
        <p:spPr>
          <a:xfrm>
            <a:off x="6534150" y="1934189"/>
            <a:ext cx="4838700" cy="1149422"/>
          </a:xfrm>
          <a:prstGeom prst="roundRect">
            <a:avLst>
              <a:gd name="adj" fmla="val 14916"/>
            </a:avLst>
          </a:prstGeom>
          <a:solidFill>
            <a:srgbClr val="111C33"/>
          </a:solidFill>
          <a:ln w="12700">
            <a:solidFill>
              <a:srgbClr val="22345A"/>
            </a:solidFill>
            <a:prstDash val="solid"/>
          </a:ln>
        </p:spPr>
      </p:sp>
      <p:sp>
        <p:nvSpPr>
          <p:cNvPr id="9" name="Text 6"/>
          <p:cNvSpPr/>
          <p:nvPr/>
        </p:nvSpPr>
        <p:spPr>
          <a:xfrm>
            <a:off x="6691746" y="2091785"/>
            <a:ext cx="4659214" cy="256526"/>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8FA0C6"/>
                </a:solidFill>
                <a:latin typeface="Inter" pitchFamily="34" charset="0"/>
                <a:ea typeface="Inter" pitchFamily="34" charset="-122"/>
                <a:cs typeface="Inter" pitchFamily="34" charset="-120"/>
              </a:rPr>
              <a:t>RULES (NO AI)</a:t>
            </a:r>
            <a:endParaRPr lang="en-US" sz="1300" dirty="0"/>
          </a:p>
        </p:txBody>
      </p:sp>
      <p:sp>
        <p:nvSpPr>
          <p:cNvPr id="10" name="Text 7"/>
          <p:cNvSpPr/>
          <p:nvPr/>
        </p:nvSpPr>
        <p:spPr>
          <a:xfrm>
            <a:off x="6691746" y="2411809"/>
            <a:ext cx="4659214" cy="27431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A"/>
                </a:solidFill>
                <a:latin typeface="Inter" pitchFamily="34" charset="0"/>
                <a:ea typeface="Inter" pitchFamily="34" charset="-122"/>
                <a:cs typeface="Inter" pitchFamily="34" charset="-120"/>
              </a:rPr>
              <a:t>Baseline risk tier and promise status</a:t>
            </a:r>
            <a:endParaRPr lang="en-US" sz="1400" dirty="0"/>
          </a:p>
        </p:txBody>
      </p:sp>
      <p:sp>
        <p:nvSpPr>
          <p:cNvPr id="11" name="Shape 8"/>
          <p:cNvSpPr/>
          <p:nvPr/>
        </p:nvSpPr>
        <p:spPr>
          <a:xfrm>
            <a:off x="6534150" y="3223313"/>
            <a:ext cx="4838700" cy="1149422"/>
          </a:xfrm>
          <a:prstGeom prst="roundRect">
            <a:avLst>
              <a:gd name="adj" fmla="val 14916"/>
            </a:avLst>
          </a:prstGeom>
          <a:solidFill>
            <a:srgbClr val="111C33"/>
          </a:solidFill>
          <a:ln w="12700">
            <a:solidFill>
              <a:srgbClr val="22345A"/>
            </a:solidFill>
            <a:prstDash val="solid"/>
          </a:ln>
        </p:spPr>
      </p:sp>
      <p:sp>
        <p:nvSpPr>
          <p:cNvPr id="12" name="Text 9"/>
          <p:cNvSpPr/>
          <p:nvPr/>
        </p:nvSpPr>
        <p:spPr>
          <a:xfrm>
            <a:off x="6691746" y="3380907"/>
            <a:ext cx="4659214" cy="256526"/>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22D3EE"/>
                </a:solidFill>
                <a:latin typeface="Inter" pitchFamily="34" charset="0"/>
                <a:ea typeface="Inter" pitchFamily="34" charset="-122"/>
                <a:cs typeface="Inter" pitchFamily="34" charset="-120"/>
              </a:rPr>
              <a:t>AI (GEMINI)</a:t>
            </a:r>
            <a:endParaRPr lang="en-US" sz="1300" dirty="0"/>
          </a:p>
        </p:txBody>
      </p:sp>
      <p:sp>
        <p:nvSpPr>
          <p:cNvPr id="13" name="Text 10"/>
          <p:cNvSpPr/>
          <p:nvPr/>
        </p:nvSpPr>
        <p:spPr>
          <a:xfrm>
            <a:off x="6691746" y="3700934"/>
            <a:ext cx="4659214" cy="52322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A"/>
                </a:solidFill>
                <a:latin typeface="Inter" pitchFamily="34" charset="0"/>
                <a:ea typeface="Inter" pitchFamily="34" charset="-122"/>
                <a:cs typeface="Inter" pitchFamily="34" charset="-120"/>
              </a:rPr>
              <a:t>May move the tier by one level, must explain why. Drafts in English, Bahasa Malaysia or Chinese</a:t>
            </a:r>
            <a:endParaRPr lang="en-US" sz="1400" dirty="0"/>
          </a:p>
        </p:txBody>
      </p:sp>
      <p:sp>
        <p:nvSpPr>
          <p:cNvPr id="14" name="Shape 11"/>
          <p:cNvSpPr/>
          <p:nvPr/>
        </p:nvSpPr>
        <p:spPr>
          <a:xfrm>
            <a:off x="6527800" y="4506085"/>
            <a:ext cx="4851400" cy="1139031"/>
          </a:xfrm>
          <a:prstGeom prst="roundRect">
            <a:avLst>
              <a:gd name="adj" fmla="val 15610"/>
            </a:avLst>
          </a:prstGeom>
          <a:solidFill>
            <a:srgbClr val="2563EB"/>
          </a:solidFill>
          <a:ln/>
        </p:spPr>
      </p:sp>
      <p:sp>
        <p:nvSpPr>
          <p:cNvPr id="15" name="Text 12"/>
          <p:cNvSpPr/>
          <p:nvPr/>
        </p:nvSpPr>
        <p:spPr>
          <a:xfrm>
            <a:off x="6680200" y="4658485"/>
            <a:ext cx="4682998" cy="256526"/>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FBBF24"/>
                </a:solidFill>
                <a:latin typeface="Inter" pitchFamily="34" charset="0"/>
                <a:ea typeface="Inter" pitchFamily="34" charset="-122"/>
                <a:cs typeface="Inter" pitchFamily="34" charset="-120"/>
              </a:rPr>
              <a:t>SAFETY</a:t>
            </a:r>
            <a:endParaRPr lang="en-US" sz="1300" dirty="0"/>
          </a:p>
        </p:txBody>
      </p:sp>
      <p:sp>
        <p:nvSpPr>
          <p:cNvPr id="16" name="Text 13"/>
          <p:cNvSpPr/>
          <p:nvPr/>
        </p:nvSpPr>
        <p:spPr>
          <a:xfrm>
            <a:off x="6680200" y="4978509"/>
            <a:ext cx="4682998" cy="52322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Output validated · human approves · send is simulated · fixed template if AI fails</a:t>
            </a:r>
            <a:endParaRPr lang="en-US" sz="1400" dirty="0"/>
          </a:p>
        </p:txBody>
      </p:sp>
      <p:sp>
        <p:nvSpPr>
          <p:cNvPr id="17" name="Text 14"/>
          <p:cNvSpPr/>
          <p:nvPr/>
        </p:nvSpPr>
        <p:spPr>
          <a:xfrm>
            <a:off x="812800" y="6238264"/>
            <a:ext cx="7191721"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Gemini Flash-Lite via the Gemini API · one retry, then cached or rule-based fallback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12800" y="406400"/>
            <a:ext cx="609600" cy="50800"/>
          </a:xfrm>
          <a:prstGeom prst="roundRect">
            <a:avLst>
              <a:gd name="adj" fmla="val 50000"/>
            </a:avLst>
          </a:prstGeom>
          <a:solidFill>
            <a:srgbClr val="22D3EE"/>
          </a:solidFill>
          <a:ln/>
        </p:spPr>
      </p:sp>
      <p:sp>
        <p:nvSpPr>
          <p:cNvPr id="3" name="Text 1"/>
          <p:cNvSpPr/>
          <p:nvPr/>
        </p:nvSpPr>
        <p:spPr>
          <a:xfrm>
            <a:off x="812800" y="812800"/>
            <a:ext cx="1696027" cy="289538"/>
          </a:xfrm>
          <a:custGeom>
            <a:avLst/>
            <a:gdLst/>
            <a:ahLst/>
            <a:cxnLst/>
            <a:rect l="l" t="t" r="r" b="b"/>
            <a:pathLst>
              <a:path w="1696027" h="289538">
                <a:moveTo>
                  <a:pt x="144769" y="0"/>
                </a:moveTo>
                <a:lnTo>
                  <a:pt x="1551258" y="0"/>
                </a:lnTo>
                <a:arcTo hR="144769" wR="144769" stAng="16200000" swAng="5400000"/>
                <a:lnTo>
                  <a:pt x="1696027" y="144769"/>
                </a:lnTo>
                <a:arcTo hR="144769" wR="144769" stAng="0" swAng="5400000"/>
                <a:lnTo>
                  <a:pt x="144769" y="289538"/>
                </a:lnTo>
                <a:arcTo hR="144769" wR="144769" stAng="5400000" swAng="5400000"/>
                <a:lnTo>
                  <a:pt x="0" y="144769"/>
                </a:lnTo>
                <a:arcTo hR="144769" wR="144769"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ARCHITECTURE</a:t>
            </a:r>
            <a:endParaRPr lang="en-US" sz="1200" dirty="0"/>
          </a:p>
        </p:txBody>
      </p:sp>
      <p:sp>
        <p:nvSpPr>
          <p:cNvPr id="4" name="Text 2"/>
          <p:cNvSpPr/>
          <p:nvPr>
            <p:ph type="title"/>
          </p:nvPr>
        </p:nvSpPr>
        <p:spPr>
          <a:xfrm>
            <a:off x="812800" y="1305539"/>
            <a:ext cx="104648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FFFFF"/>
                </a:solidFill>
                <a:latin typeface="Inter" pitchFamily="34" charset="0"/>
                <a:ea typeface="Inter" pitchFamily="34" charset="-122"/>
                <a:cs typeface="Inter" pitchFamily="34" charset="-120"/>
              </a:rPr>
              <a:t>A small stack one person can build, run and explain</a:t>
            </a:r>
            <a:endParaRPr lang="en-US" sz="3000" dirty="0"/>
          </a:p>
        </p:txBody>
      </p:sp>
      <p:sp>
        <p:nvSpPr>
          <p:cNvPr id="5" name="Shape 3"/>
          <p:cNvSpPr/>
          <p:nvPr/>
        </p:nvSpPr>
        <p:spPr>
          <a:xfrm>
            <a:off x="819150" y="1934189"/>
            <a:ext cx="2625040" cy="988255"/>
          </a:xfrm>
          <a:prstGeom prst="roundRect">
            <a:avLst>
              <a:gd name="adj" fmla="val 17349"/>
            </a:avLst>
          </a:prstGeom>
          <a:solidFill>
            <a:srgbClr val="111C33"/>
          </a:solidFill>
          <a:ln w="12700">
            <a:solidFill>
              <a:srgbClr val="22345A"/>
            </a:solidFill>
            <a:prstDash val="solid"/>
          </a:ln>
        </p:spPr>
      </p:sp>
      <p:sp>
        <p:nvSpPr>
          <p:cNvPr id="6" name="Text 4"/>
          <p:cNvSpPr/>
          <p:nvPr/>
        </p:nvSpPr>
        <p:spPr>
          <a:xfrm>
            <a:off x="1002146" y="2117185"/>
            <a:ext cx="2326820" cy="327638"/>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Inter" pitchFamily="34" charset="0"/>
                <a:ea typeface="Inter" pitchFamily="34" charset="-122"/>
                <a:cs typeface="Inter" pitchFamily="34" charset="-120"/>
              </a:rPr>
              <a:t>Owner</a:t>
            </a:r>
            <a:endParaRPr lang="en-US" sz="1700" dirty="0"/>
          </a:p>
        </p:txBody>
      </p:sp>
      <p:sp>
        <p:nvSpPr>
          <p:cNvPr id="7" name="Text 5"/>
          <p:cNvSpPr/>
          <p:nvPr/>
        </p:nvSpPr>
        <p:spPr>
          <a:xfrm>
            <a:off x="1002146" y="2508324"/>
            <a:ext cx="2326820" cy="2565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CFA"/>
                </a:solidFill>
                <a:latin typeface="Inter" pitchFamily="34" charset="0"/>
                <a:ea typeface="Inter" pitchFamily="34" charset="-122"/>
                <a:cs typeface="Inter" pitchFamily="34" charset="-120"/>
              </a:rPr>
              <a:t>Browser, Jinja2 pages</a:t>
            </a:r>
            <a:endParaRPr lang="en-US" sz="1300" dirty="0"/>
          </a:p>
        </p:txBody>
      </p:sp>
      <p:sp>
        <p:nvSpPr>
          <p:cNvPr id="8" name="Text 6"/>
          <p:cNvSpPr/>
          <p:nvPr/>
        </p:nvSpPr>
        <p:spPr>
          <a:xfrm>
            <a:off x="3577540" y="2143847"/>
            <a:ext cx="487723" cy="594338"/>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2D3EE"/>
                </a:solidFill>
                <a:latin typeface="Inter" pitchFamily="34" charset="0"/>
                <a:ea typeface="Inter" pitchFamily="34" charset="-122"/>
                <a:cs typeface="Inter" pitchFamily="34" charset="-120"/>
              </a:rPr>
              <a:t>→</a:t>
            </a:r>
            <a:endParaRPr lang="en-US" sz="3200" dirty="0"/>
          </a:p>
        </p:txBody>
      </p:sp>
      <p:sp>
        <p:nvSpPr>
          <p:cNvPr id="9" name="Shape 7"/>
          <p:cNvSpPr/>
          <p:nvPr/>
        </p:nvSpPr>
        <p:spPr>
          <a:xfrm>
            <a:off x="4110976" y="1939385"/>
            <a:ext cx="3292331" cy="977864"/>
          </a:xfrm>
          <a:prstGeom prst="roundRect">
            <a:avLst>
              <a:gd name="adj" fmla="val 18182"/>
            </a:avLst>
          </a:prstGeom>
          <a:solidFill>
            <a:srgbClr val="2563EB"/>
          </a:solidFill>
          <a:ln/>
        </p:spPr>
      </p:sp>
      <p:sp>
        <p:nvSpPr>
          <p:cNvPr id="10" name="Text 8"/>
          <p:cNvSpPr/>
          <p:nvPr/>
        </p:nvSpPr>
        <p:spPr>
          <a:xfrm>
            <a:off x="4288776" y="2117185"/>
            <a:ext cx="3024833" cy="327638"/>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Inter" pitchFamily="34" charset="0"/>
                <a:ea typeface="Inter" pitchFamily="34" charset="-122"/>
                <a:cs typeface="Inter" pitchFamily="34" charset="-120"/>
              </a:rPr>
              <a:t>Flask app</a:t>
            </a:r>
            <a:endParaRPr lang="en-US" sz="1700" dirty="0"/>
          </a:p>
        </p:txBody>
      </p:sp>
      <p:sp>
        <p:nvSpPr>
          <p:cNvPr id="11" name="Text 9"/>
          <p:cNvSpPr/>
          <p:nvPr/>
        </p:nvSpPr>
        <p:spPr>
          <a:xfrm>
            <a:off x="4288776" y="2508324"/>
            <a:ext cx="3024833" cy="2565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CFA"/>
                </a:solidFill>
                <a:latin typeface="Inter" pitchFamily="34" charset="0"/>
                <a:ea typeface="Inter" pitchFamily="34" charset="-122"/>
                <a:cs typeface="Inter" pitchFamily="34" charset="-120"/>
              </a:rPr>
              <a:t>Routes, rules, approval, activity log</a:t>
            </a:r>
            <a:endParaRPr lang="en-US" sz="1300" dirty="0"/>
          </a:p>
        </p:txBody>
      </p:sp>
      <p:sp>
        <p:nvSpPr>
          <p:cNvPr id="12" name="Text 10"/>
          <p:cNvSpPr/>
          <p:nvPr/>
        </p:nvSpPr>
        <p:spPr>
          <a:xfrm>
            <a:off x="7530306" y="2143847"/>
            <a:ext cx="487723" cy="594338"/>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2D3EE"/>
                </a:solidFill>
                <a:latin typeface="Inter" pitchFamily="34" charset="0"/>
                <a:ea typeface="Inter" pitchFamily="34" charset="-122"/>
                <a:cs typeface="Inter" pitchFamily="34" charset="-120"/>
              </a:rPr>
              <a:t>→</a:t>
            </a:r>
            <a:endParaRPr lang="en-US" sz="3200" dirty="0"/>
          </a:p>
        </p:txBody>
      </p:sp>
      <p:sp>
        <p:nvSpPr>
          <p:cNvPr id="13" name="Shape 11"/>
          <p:cNvSpPr/>
          <p:nvPr/>
        </p:nvSpPr>
        <p:spPr>
          <a:xfrm>
            <a:off x="8070093" y="1934189"/>
            <a:ext cx="3302758" cy="988255"/>
          </a:xfrm>
          <a:prstGeom prst="roundRect">
            <a:avLst>
              <a:gd name="adj" fmla="val 17349"/>
            </a:avLst>
          </a:prstGeom>
          <a:solidFill>
            <a:srgbClr val="111C33"/>
          </a:solidFill>
          <a:ln w="12700">
            <a:solidFill>
              <a:srgbClr val="22345A"/>
            </a:solidFill>
            <a:prstDash val="solid"/>
          </a:ln>
        </p:spPr>
      </p:sp>
      <p:sp>
        <p:nvSpPr>
          <p:cNvPr id="14" name="Text 12"/>
          <p:cNvSpPr/>
          <p:nvPr/>
        </p:nvSpPr>
        <p:spPr>
          <a:xfrm>
            <a:off x="8253088" y="2117185"/>
            <a:ext cx="3024870" cy="327638"/>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Inter" pitchFamily="34" charset="0"/>
                <a:ea typeface="Inter" pitchFamily="34" charset="-122"/>
                <a:cs typeface="Inter" pitchFamily="34" charset="-120"/>
              </a:rPr>
              <a:t>Gemini API</a:t>
            </a:r>
            <a:endParaRPr lang="en-US" sz="1700" dirty="0"/>
          </a:p>
        </p:txBody>
      </p:sp>
      <p:sp>
        <p:nvSpPr>
          <p:cNvPr id="15" name="Text 13"/>
          <p:cNvSpPr/>
          <p:nvPr/>
        </p:nvSpPr>
        <p:spPr>
          <a:xfrm>
            <a:off x="8253088" y="2508324"/>
            <a:ext cx="3024870" cy="2565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CFA"/>
                </a:solidFill>
                <a:latin typeface="Inter" pitchFamily="34" charset="0"/>
                <a:ea typeface="Inter" pitchFamily="34" charset="-122"/>
                <a:cs typeface="Inter" pitchFamily="34" charset="-120"/>
              </a:rPr>
              <a:t>Explanation and draft, JSON output</a:t>
            </a:r>
            <a:endParaRPr lang="en-US" sz="1300" dirty="0"/>
          </a:p>
        </p:txBody>
      </p:sp>
      <p:sp>
        <p:nvSpPr>
          <p:cNvPr id="16" name="Shape 14"/>
          <p:cNvSpPr/>
          <p:nvPr/>
        </p:nvSpPr>
        <p:spPr>
          <a:xfrm>
            <a:off x="819150" y="3138345"/>
            <a:ext cx="3424743" cy="988255"/>
          </a:xfrm>
          <a:prstGeom prst="roundRect">
            <a:avLst>
              <a:gd name="adj" fmla="val 17349"/>
            </a:avLst>
          </a:prstGeom>
          <a:solidFill>
            <a:srgbClr val="111C33"/>
          </a:solidFill>
          <a:ln w="12700">
            <a:solidFill>
              <a:srgbClr val="22345A"/>
            </a:solidFill>
            <a:prstDash val="solid"/>
          </a:ln>
        </p:spPr>
      </p:sp>
      <p:sp>
        <p:nvSpPr>
          <p:cNvPr id="17" name="Text 15"/>
          <p:cNvSpPr/>
          <p:nvPr/>
        </p:nvSpPr>
        <p:spPr>
          <a:xfrm>
            <a:off x="1002146" y="3321341"/>
            <a:ext cx="3150514" cy="327638"/>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Inter" pitchFamily="34" charset="0"/>
                <a:ea typeface="Inter" pitchFamily="34" charset="-122"/>
                <a:cs typeface="Inter" pitchFamily="34" charset="-120"/>
              </a:rPr>
              <a:t>Synthetic data</a:t>
            </a:r>
            <a:endParaRPr lang="en-US" sz="1700" dirty="0"/>
          </a:p>
        </p:txBody>
      </p:sp>
      <p:sp>
        <p:nvSpPr>
          <p:cNvPr id="18" name="Text 16"/>
          <p:cNvSpPr/>
          <p:nvPr/>
        </p:nvSpPr>
        <p:spPr>
          <a:xfrm>
            <a:off x="1002146" y="3712477"/>
            <a:ext cx="3150514" cy="2565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CFA"/>
                </a:solidFill>
                <a:latin typeface="Inter" pitchFamily="34" charset="0"/>
                <a:ea typeface="Inter" pitchFamily="34" charset="-122"/>
                <a:cs typeface="Inter" pitchFamily="34" charset="-120"/>
              </a:rPr>
              <a:t>In memory, resets on restart</a:t>
            </a:r>
            <a:endParaRPr lang="en-US" sz="1300" dirty="0"/>
          </a:p>
        </p:txBody>
      </p:sp>
      <p:sp>
        <p:nvSpPr>
          <p:cNvPr id="19" name="Shape 17"/>
          <p:cNvSpPr/>
          <p:nvPr/>
        </p:nvSpPr>
        <p:spPr>
          <a:xfrm>
            <a:off x="4383593" y="3138345"/>
            <a:ext cx="3424779" cy="988255"/>
          </a:xfrm>
          <a:prstGeom prst="roundRect">
            <a:avLst>
              <a:gd name="adj" fmla="val 17349"/>
            </a:avLst>
          </a:prstGeom>
          <a:solidFill>
            <a:srgbClr val="111C33"/>
          </a:solidFill>
          <a:ln w="12700">
            <a:solidFill>
              <a:srgbClr val="22345A"/>
            </a:solidFill>
            <a:prstDash val="solid"/>
          </a:ln>
        </p:spPr>
      </p:sp>
      <p:sp>
        <p:nvSpPr>
          <p:cNvPr id="20" name="Text 18"/>
          <p:cNvSpPr/>
          <p:nvPr/>
        </p:nvSpPr>
        <p:spPr>
          <a:xfrm>
            <a:off x="4566588" y="3321341"/>
            <a:ext cx="3150552" cy="327638"/>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Inter" pitchFamily="34" charset="0"/>
                <a:ea typeface="Inter" pitchFamily="34" charset="-122"/>
                <a:cs typeface="Inter" pitchFamily="34" charset="-120"/>
              </a:rPr>
              <a:t>Fallback</a:t>
            </a:r>
            <a:endParaRPr lang="en-US" sz="1700" dirty="0"/>
          </a:p>
        </p:txBody>
      </p:sp>
      <p:sp>
        <p:nvSpPr>
          <p:cNvPr id="21" name="Text 19"/>
          <p:cNvSpPr/>
          <p:nvPr/>
        </p:nvSpPr>
        <p:spPr>
          <a:xfrm>
            <a:off x="4566588" y="3712477"/>
            <a:ext cx="3150552" cy="2565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CFA"/>
                </a:solidFill>
                <a:latin typeface="Inter" pitchFamily="34" charset="0"/>
                <a:ea typeface="Inter" pitchFamily="34" charset="-122"/>
                <a:cs typeface="Inter" pitchFamily="34" charset="-120"/>
              </a:rPr>
              <a:t>Retry once, cache, then template</a:t>
            </a:r>
            <a:endParaRPr lang="en-US" sz="1300" dirty="0"/>
          </a:p>
        </p:txBody>
      </p:sp>
      <p:sp>
        <p:nvSpPr>
          <p:cNvPr id="22" name="Shape 20"/>
          <p:cNvSpPr/>
          <p:nvPr/>
        </p:nvSpPr>
        <p:spPr>
          <a:xfrm>
            <a:off x="7948071" y="3138345"/>
            <a:ext cx="3424779" cy="988255"/>
          </a:xfrm>
          <a:prstGeom prst="roundRect">
            <a:avLst>
              <a:gd name="adj" fmla="val 17349"/>
            </a:avLst>
          </a:prstGeom>
          <a:solidFill>
            <a:srgbClr val="111C33"/>
          </a:solidFill>
          <a:ln w="12700">
            <a:solidFill>
              <a:srgbClr val="22345A"/>
            </a:solidFill>
            <a:prstDash val="solid"/>
          </a:ln>
        </p:spPr>
      </p:sp>
      <p:sp>
        <p:nvSpPr>
          <p:cNvPr id="23" name="Text 21"/>
          <p:cNvSpPr/>
          <p:nvPr/>
        </p:nvSpPr>
        <p:spPr>
          <a:xfrm>
            <a:off x="8131067" y="3321341"/>
            <a:ext cx="3150552" cy="327638"/>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FFFFF"/>
                </a:solidFill>
                <a:latin typeface="Inter" pitchFamily="34" charset="0"/>
                <a:ea typeface="Inter" pitchFamily="34" charset="-122"/>
                <a:cs typeface="Inter" pitchFamily="34" charset="-120"/>
              </a:rPr>
              <a:t>Hosting</a:t>
            </a:r>
            <a:endParaRPr lang="en-US" sz="1700" dirty="0"/>
          </a:p>
        </p:txBody>
      </p:sp>
      <p:sp>
        <p:nvSpPr>
          <p:cNvPr id="24" name="Text 22"/>
          <p:cNvSpPr/>
          <p:nvPr/>
        </p:nvSpPr>
        <p:spPr>
          <a:xfrm>
            <a:off x="8131067" y="3712477"/>
            <a:ext cx="3235433" cy="25652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6ECFA"/>
                </a:solidFill>
                <a:latin typeface="Inter" pitchFamily="34" charset="0"/>
                <a:ea typeface="Inter" pitchFamily="34" charset="-122"/>
                <a:cs typeface="Inter" pitchFamily="34" charset="-120"/>
              </a:rPr>
              <a:t>Replit Autoscale, GitHub (Apache-2.0)</a:t>
            </a:r>
            <a:endParaRPr lang="en-US" sz="1300" dirty="0"/>
          </a:p>
        </p:txBody>
      </p:sp>
      <p:sp>
        <p:nvSpPr>
          <p:cNvPr id="25" name="Text 23"/>
          <p:cNvSpPr/>
          <p:nvPr/>
        </p:nvSpPr>
        <p:spPr>
          <a:xfrm>
            <a:off x="812800" y="4336151"/>
            <a:ext cx="10883392" cy="27431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A0C6"/>
                </a:solidFill>
                <a:latin typeface="Inter" pitchFamily="34" charset="0"/>
                <a:ea typeface="Inter" pitchFamily="34" charset="-122"/>
                <a:cs typeface="Inter" pitchFamily="34" charset="-120"/>
              </a:rPr>
              <a:t>Python 3.11 · Flask 3.1 · Jinja2 · requests · Gemini Flash-Lite · 13 automated unit tests</a:t>
            </a:r>
            <a:endParaRPr lang="en-US" sz="1400" dirty="0"/>
          </a:p>
        </p:txBody>
      </p:sp>
      <p:sp>
        <p:nvSpPr>
          <p:cNvPr id="26" name="Text 24"/>
          <p:cNvSpPr/>
          <p:nvPr/>
        </p:nvSpPr>
        <p:spPr>
          <a:xfrm>
            <a:off x="812800" y="6238261"/>
            <a:ext cx="2822604"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Team ZH · ChaseFlow for Orbyte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12800" y="406400"/>
            <a:ext cx="609600" cy="50800"/>
          </a:xfrm>
          <a:prstGeom prst="roundRect">
            <a:avLst>
              <a:gd name="adj" fmla="val 50000"/>
            </a:avLst>
          </a:prstGeom>
          <a:solidFill>
            <a:srgbClr val="22D3EE"/>
          </a:solidFill>
          <a:ln/>
        </p:spPr>
      </p:sp>
      <p:sp>
        <p:nvSpPr>
          <p:cNvPr id="3" name="Text 1"/>
          <p:cNvSpPr/>
          <p:nvPr/>
        </p:nvSpPr>
        <p:spPr>
          <a:xfrm>
            <a:off x="812800" y="812800"/>
            <a:ext cx="2905811" cy="289538"/>
          </a:xfrm>
          <a:custGeom>
            <a:avLst/>
            <a:gdLst/>
            <a:ahLst/>
            <a:cxnLst/>
            <a:rect l="l" t="t" r="r" b="b"/>
            <a:pathLst>
              <a:path w="2905811" h="289538">
                <a:moveTo>
                  <a:pt x="144769" y="0"/>
                </a:moveTo>
                <a:lnTo>
                  <a:pt x="2761041" y="0"/>
                </a:lnTo>
                <a:arcTo hR="144769" wR="144769" stAng="16200000" swAng="5400000"/>
                <a:lnTo>
                  <a:pt x="2905811" y="144769"/>
                </a:lnTo>
                <a:arcTo hR="144769" wR="144769" stAng="0" swAng="5400000"/>
                <a:lnTo>
                  <a:pt x="144769" y="289538"/>
                </a:lnTo>
                <a:arcTo hR="144769" wR="144769" stAng="5400000" swAng="5400000"/>
                <a:lnTo>
                  <a:pt x="0" y="144769"/>
                </a:lnTo>
                <a:arcTo hR="144769" wR="144769"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IMPACT · SDG 8, TARGET 8.3</a:t>
            </a:r>
            <a:endParaRPr lang="en-US" sz="1200" dirty="0"/>
          </a:p>
        </p:txBody>
      </p:sp>
      <p:sp>
        <p:nvSpPr>
          <p:cNvPr id="4" name="Text 2"/>
          <p:cNvSpPr/>
          <p:nvPr>
            <p:ph type="title"/>
          </p:nvPr>
        </p:nvSpPr>
        <p:spPr>
          <a:xfrm>
            <a:off x="812800" y="1305539"/>
            <a:ext cx="10464800"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FFFFF"/>
                </a:solidFill>
                <a:latin typeface="Inter" pitchFamily="34" charset="0"/>
                <a:ea typeface="Inter" pitchFamily="34" charset="-122"/>
                <a:cs typeface="Inter" pitchFamily="34" charset="-120"/>
              </a:rPr>
              <a:t>We measure the time saved per reminder, and name what is still an assumption</a:t>
            </a:r>
            <a:endParaRPr lang="en-US" sz="3000" dirty="0"/>
          </a:p>
        </p:txBody>
      </p:sp>
      <p:sp>
        <p:nvSpPr>
          <p:cNvPr id="5" name="Shape 3"/>
          <p:cNvSpPr/>
          <p:nvPr/>
        </p:nvSpPr>
        <p:spPr>
          <a:xfrm>
            <a:off x="819150" y="2353289"/>
            <a:ext cx="3381664" cy="1950929"/>
          </a:xfrm>
          <a:prstGeom prst="roundRect">
            <a:avLst>
              <a:gd name="adj" fmla="val 8788"/>
            </a:avLst>
          </a:prstGeom>
          <a:solidFill>
            <a:srgbClr val="111C33"/>
          </a:solidFill>
          <a:ln w="12700">
            <a:solidFill>
              <a:srgbClr val="22345A"/>
            </a:solidFill>
            <a:prstDash val="solid"/>
          </a:ln>
        </p:spPr>
      </p:sp>
      <p:sp>
        <p:nvSpPr>
          <p:cNvPr id="6" name="Text 4"/>
          <p:cNvSpPr/>
          <p:nvPr/>
        </p:nvSpPr>
        <p:spPr>
          <a:xfrm>
            <a:off x="1078346" y="2612485"/>
            <a:ext cx="2949171" cy="274313"/>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FA0C6"/>
                </a:solidFill>
                <a:latin typeface="Inter" pitchFamily="34" charset="0"/>
                <a:ea typeface="Inter" pitchFamily="34" charset="-122"/>
                <a:cs typeface="Inter" pitchFamily="34" charset="-120"/>
              </a:rPr>
              <a:t>BASELINE</a:t>
            </a:r>
            <a:endParaRPr lang="en-US" sz="1400" dirty="0"/>
          </a:p>
        </p:txBody>
      </p:sp>
      <p:sp>
        <p:nvSpPr>
          <p:cNvPr id="7" name="Text 5"/>
          <p:cNvSpPr/>
          <p:nvPr/>
        </p:nvSpPr>
        <p:spPr>
          <a:xfrm>
            <a:off x="1078346" y="2950301"/>
            <a:ext cx="2949171"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FFFFF"/>
                </a:solidFill>
                <a:latin typeface="Inter" pitchFamily="34" charset="0"/>
                <a:ea typeface="Inter" pitchFamily="34" charset="-122"/>
                <a:cs typeface="Inter" pitchFamily="34" charset="-120"/>
              </a:rPr>
              <a:t>65 days</a:t>
            </a:r>
            <a:endParaRPr lang="en-US" sz="4000" dirty="0"/>
          </a:p>
        </p:txBody>
      </p:sp>
      <p:sp>
        <p:nvSpPr>
          <p:cNvPr id="8" name="Text 6"/>
          <p:cNvSpPr/>
          <p:nvPr/>
        </p:nvSpPr>
        <p:spPr>
          <a:xfrm>
            <a:off x="1078346" y="3547201"/>
            <a:ext cx="2949171" cy="52322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A"/>
                </a:solidFill>
                <a:latin typeface="Inter" pitchFamily="34" charset="0"/>
                <a:ea typeface="Inter" pitchFamily="34" charset="-122"/>
                <a:cs typeface="Inter" pitchFamily="34" charset="-120"/>
              </a:rPr>
              <a:t>SME average time to pay (Experian, Jan–May 2024)</a:t>
            </a:r>
            <a:endParaRPr lang="en-US" sz="1400" dirty="0"/>
          </a:p>
        </p:txBody>
      </p:sp>
      <p:sp>
        <p:nvSpPr>
          <p:cNvPr id="9" name="Shape 7"/>
          <p:cNvSpPr/>
          <p:nvPr/>
        </p:nvSpPr>
        <p:spPr>
          <a:xfrm>
            <a:off x="4416714" y="2353289"/>
            <a:ext cx="3381664" cy="1950929"/>
          </a:xfrm>
          <a:prstGeom prst="roundRect">
            <a:avLst>
              <a:gd name="adj" fmla="val 8788"/>
            </a:avLst>
          </a:prstGeom>
          <a:solidFill>
            <a:srgbClr val="111C33"/>
          </a:solidFill>
          <a:ln w="12700">
            <a:solidFill>
              <a:srgbClr val="22345A"/>
            </a:solidFill>
            <a:prstDash val="solid"/>
          </a:ln>
        </p:spPr>
      </p:sp>
      <p:sp>
        <p:nvSpPr>
          <p:cNvPr id="10" name="Text 8"/>
          <p:cNvSpPr/>
          <p:nvPr/>
        </p:nvSpPr>
        <p:spPr>
          <a:xfrm>
            <a:off x="4675909" y="2612485"/>
            <a:ext cx="2949171" cy="274313"/>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FA0C6"/>
                </a:solidFill>
                <a:latin typeface="Inter" pitchFamily="34" charset="0"/>
                <a:ea typeface="Inter" pitchFamily="34" charset="-122"/>
                <a:cs typeface="Inter" pitchFamily="34" charset="-120"/>
              </a:rPr>
              <a:t>OUR KPI</a:t>
            </a:r>
            <a:endParaRPr lang="en-US" sz="1400" dirty="0"/>
          </a:p>
        </p:txBody>
      </p:sp>
      <p:sp>
        <p:nvSpPr>
          <p:cNvPr id="11" name="Text 9"/>
          <p:cNvSpPr/>
          <p:nvPr/>
        </p:nvSpPr>
        <p:spPr>
          <a:xfrm>
            <a:off x="4675909" y="2950301"/>
            <a:ext cx="2949171"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22D3EE"/>
                </a:solidFill>
                <a:latin typeface="Inter" pitchFamily="34" charset="0"/>
                <a:ea typeface="Inter" pitchFamily="34" charset="-122"/>
                <a:cs typeface="Inter" pitchFamily="34" charset="-120"/>
              </a:rPr>
              <a:t>minutes</a:t>
            </a:r>
            <a:endParaRPr lang="en-US" sz="4000" dirty="0"/>
          </a:p>
        </p:txBody>
      </p:sp>
      <p:sp>
        <p:nvSpPr>
          <p:cNvPr id="12" name="Text 10"/>
          <p:cNvSpPr/>
          <p:nvPr/>
        </p:nvSpPr>
        <p:spPr>
          <a:xfrm>
            <a:off x="4675909" y="3547201"/>
            <a:ext cx="2949171" cy="52322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A"/>
                </a:solidFill>
                <a:latin typeface="Inter" pitchFamily="34" charset="0"/>
                <a:ea typeface="Inter" pitchFamily="34" charset="-122"/>
                <a:cs typeface="Inter" pitchFamily="34" charset="-120"/>
              </a:rPr>
              <a:t>per reminder, from overdue invoice to approved message</a:t>
            </a:r>
            <a:endParaRPr lang="en-US" sz="1400" dirty="0"/>
          </a:p>
        </p:txBody>
      </p:sp>
      <p:sp>
        <p:nvSpPr>
          <p:cNvPr id="13" name="Shape 11"/>
          <p:cNvSpPr/>
          <p:nvPr/>
        </p:nvSpPr>
        <p:spPr>
          <a:xfrm>
            <a:off x="8007927" y="2346939"/>
            <a:ext cx="3371273" cy="1963629"/>
          </a:xfrm>
          <a:prstGeom prst="roundRect">
            <a:avLst>
              <a:gd name="adj" fmla="val 9055"/>
            </a:avLst>
          </a:prstGeom>
          <a:solidFill>
            <a:srgbClr val="2563EB"/>
          </a:solidFill>
          <a:ln/>
        </p:spPr>
      </p:sp>
      <p:sp>
        <p:nvSpPr>
          <p:cNvPr id="14" name="Text 12"/>
          <p:cNvSpPr/>
          <p:nvPr/>
        </p:nvSpPr>
        <p:spPr>
          <a:xfrm>
            <a:off x="8261927" y="2600939"/>
            <a:ext cx="2949171" cy="274313"/>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BBF24"/>
                </a:solidFill>
                <a:latin typeface="Inter" pitchFamily="34" charset="0"/>
                <a:ea typeface="Inter" pitchFamily="34" charset="-122"/>
                <a:cs typeface="Inter" pitchFamily="34" charset="-120"/>
              </a:rPr>
              <a:t>PHASE 2 TARGET</a:t>
            </a:r>
            <a:endParaRPr lang="en-US" sz="1400" dirty="0"/>
          </a:p>
        </p:txBody>
      </p:sp>
      <p:sp>
        <p:nvSpPr>
          <p:cNvPr id="15" name="Text 13"/>
          <p:cNvSpPr/>
          <p:nvPr/>
        </p:nvSpPr>
        <p:spPr>
          <a:xfrm>
            <a:off x="8261927" y="2938754"/>
            <a:ext cx="2949171"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FFFFF"/>
                </a:solidFill>
                <a:latin typeface="Inter" pitchFamily="34" charset="0"/>
                <a:ea typeface="Inter" pitchFamily="34" charset="-122"/>
                <a:cs typeface="Inter" pitchFamily="34" charset="-120"/>
              </a:rPr>
              <a:t>≥ 80%</a:t>
            </a:r>
            <a:endParaRPr lang="en-US" sz="4000" dirty="0"/>
          </a:p>
        </p:txBody>
      </p:sp>
      <p:sp>
        <p:nvSpPr>
          <p:cNvPr id="16" name="Text 14"/>
          <p:cNvSpPr/>
          <p:nvPr/>
        </p:nvSpPr>
        <p:spPr>
          <a:xfrm>
            <a:off x="8261927" y="3535654"/>
            <a:ext cx="2949171" cy="52322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less time per reminder, tested in a pilot</a:t>
            </a:r>
            <a:endParaRPr lang="en-US" sz="1400" dirty="0"/>
          </a:p>
        </p:txBody>
      </p:sp>
      <p:sp>
        <p:nvSpPr>
          <p:cNvPr id="17" name="Text 15"/>
          <p:cNvSpPr/>
          <p:nvPr/>
        </p:nvSpPr>
        <p:spPr>
          <a:xfrm>
            <a:off x="812800" y="4513771"/>
            <a:ext cx="10883392" cy="52322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A0C6"/>
                </a:solidFill>
                <a:latin typeface="Inter" pitchFamily="34" charset="0"/>
                <a:ea typeface="Inter" pitchFamily="34" charset="-122"/>
                <a:cs typeface="Inter" pitchFamily="34" charset="-120"/>
              </a:rPr>
              <a:t>Assumption, not yet measured: writing a reminder by hand takes about 5 minutes. Closing the gap from 65 toward 57 days is a long-term aim, not a claim we make for Phase 2.</a:t>
            </a:r>
            <a:endParaRPr lang="en-US" sz="1400" dirty="0"/>
          </a:p>
        </p:txBody>
      </p:sp>
      <p:sp>
        <p:nvSpPr>
          <p:cNvPr id="18" name="Text 16"/>
          <p:cNvSpPr/>
          <p:nvPr/>
        </p:nvSpPr>
        <p:spPr>
          <a:xfrm>
            <a:off x="812800" y="6238261"/>
            <a:ext cx="6709973"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Sources: Experian Malaysia, State of Credit, May 2024 · UN SDG 8, Target 8.3</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12800" y="406400"/>
            <a:ext cx="609600" cy="50800"/>
          </a:xfrm>
          <a:prstGeom prst="roundRect">
            <a:avLst>
              <a:gd name="adj" fmla="val 50000"/>
            </a:avLst>
          </a:prstGeom>
          <a:solidFill>
            <a:srgbClr val="22D3EE"/>
          </a:solidFill>
          <a:ln/>
        </p:spPr>
      </p:sp>
      <p:sp>
        <p:nvSpPr>
          <p:cNvPr id="3" name="Text 1"/>
          <p:cNvSpPr/>
          <p:nvPr/>
        </p:nvSpPr>
        <p:spPr>
          <a:xfrm>
            <a:off x="812800" y="812800"/>
            <a:ext cx="2336511" cy="289538"/>
          </a:xfrm>
          <a:custGeom>
            <a:avLst/>
            <a:gdLst/>
            <a:ahLst/>
            <a:cxnLst/>
            <a:rect l="l" t="t" r="r" b="b"/>
            <a:pathLst>
              <a:path w="2336511" h="289538">
                <a:moveTo>
                  <a:pt x="144769" y="0"/>
                </a:moveTo>
                <a:lnTo>
                  <a:pt x="2191742" y="0"/>
                </a:lnTo>
                <a:arcTo hR="144769" wR="144769" stAng="16200000" swAng="5400000"/>
                <a:lnTo>
                  <a:pt x="2336511" y="144769"/>
                </a:lnTo>
                <a:arcTo hR="144769" wR="144769" stAng="0" swAng="5400000"/>
                <a:lnTo>
                  <a:pt x="144769" y="289538"/>
                </a:lnTo>
                <a:arcTo hR="144769" wR="144769" stAng="5400000" swAng="5400000"/>
                <a:lnTo>
                  <a:pt x="0" y="144769"/>
                </a:lnTo>
                <a:arcTo hR="144769" wR="144769"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FEASIBILITY AND RISK</a:t>
            </a:r>
            <a:endParaRPr lang="en-US" sz="1200" dirty="0"/>
          </a:p>
        </p:txBody>
      </p:sp>
      <p:sp>
        <p:nvSpPr>
          <p:cNvPr id="4" name="Text 2"/>
          <p:cNvSpPr/>
          <p:nvPr>
            <p:ph type="title"/>
          </p:nvPr>
        </p:nvSpPr>
        <p:spPr>
          <a:xfrm>
            <a:off x="812800" y="1305539"/>
            <a:ext cx="10464800" cy="8636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FFFFF"/>
                </a:solidFill>
                <a:latin typeface="Inter" pitchFamily="34" charset="0"/>
                <a:ea typeface="Inter" pitchFamily="34" charset="-122"/>
                <a:cs typeface="Inter" pitchFamily="34" charset="-120"/>
              </a:rPr>
              <a:t>The hardest risk is a bad AI answer, so the design assumes it will happen</a:t>
            </a:r>
            <a:endParaRPr lang="en-US" sz="3000" dirty="0"/>
          </a:p>
        </p:txBody>
      </p:sp>
      <p:sp>
        <p:nvSpPr>
          <p:cNvPr id="5" name="Shape 3"/>
          <p:cNvSpPr/>
          <p:nvPr/>
        </p:nvSpPr>
        <p:spPr>
          <a:xfrm>
            <a:off x="819150" y="2353289"/>
            <a:ext cx="5180445" cy="1582413"/>
          </a:xfrm>
          <a:prstGeom prst="roundRect">
            <a:avLst>
              <a:gd name="adj" fmla="val 10835"/>
            </a:avLst>
          </a:prstGeom>
          <a:solidFill>
            <a:srgbClr val="2A1F05"/>
          </a:solidFill>
          <a:ln w="12700">
            <a:solidFill>
              <a:srgbClr val="92660A"/>
            </a:solidFill>
            <a:prstDash val="solid"/>
          </a:ln>
        </p:spPr>
      </p:sp>
      <p:sp>
        <p:nvSpPr>
          <p:cNvPr id="6" name="Text 4"/>
          <p:cNvSpPr/>
          <p:nvPr/>
        </p:nvSpPr>
        <p:spPr>
          <a:xfrm>
            <a:off x="1052946" y="2587085"/>
            <a:ext cx="4854240" cy="274313"/>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BBF24"/>
                </a:solidFill>
                <a:latin typeface="Inter" pitchFamily="34" charset="0"/>
                <a:ea typeface="Inter" pitchFamily="34" charset="-122"/>
                <a:cs typeface="Inter" pitchFamily="34" charset="-120"/>
              </a:rPr>
              <a:t>HARDEST RISK</a:t>
            </a:r>
            <a:endParaRPr lang="en-US" sz="1400" dirty="0"/>
          </a:p>
        </p:txBody>
      </p:sp>
      <p:sp>
        <p:nvSpPr>
          <p:cNvPr id="7" name="Text 5"/>
          <p:cNvSpPr/>
          <p:nvPr/>
        </p:nvSpPr>
        <p:spPr>
          <a:xfrm>
            <a:off x="1052946" y="2924901"/>
            <a:ext cx="485424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6ECFA"/>
                </a:solidFill>
                <a:latin typeface="Inter" pitchFamily="34" charset="0"/>
                <a:ea typeface="Inter" pitchFamily="34" charset="-122"/>
                <a:cs typeface="Inter" pitchFamily="34" charset="-120"/>
              </a:rPr>
              <a:t>A wrong risk tier or an unsuitable draft, or Gemini being slow or down.</a:t>
            </a:r>
            <a:endParaRPr lang="en-US" sz="1500" dirty="0"/>
          </a:p>
        </p:txBody>
      </p:sp>
      <p:sp>
        <p:nvSpPr>
          <p:cNvPr id="8" name="Shape 6"/>
          <p:cNvSpPr/>
          <p:nvPr/>
        </p:nvSpPr>
        <p:spPr>
          <a:xfrm>
            <a:off x="6209146" y="2346939"/>
            <a:ext cx="5170055" cy="1595113"/>
          </a:xfrm>
          <a:prstGeom prst="roundRect">
            <a:avLst>
              <a:gd name="adj" fmla="val 11147"/>
            </a:avLst>
          </a:prstGeom>
          <a:solidFill>
            <a:srgbClr val="2563EB"/>
          </a:solidFill>
          <a:ln/>
        </p:spPr>
      </p:sp>
      <p:sp>
        <p:nvSpPr>
          <p:cNvPr id="9" name="Text 7"/>
          <p:cNvSpPr/>
          <p:nvPr/>
        </p:nvSpPr>
        <p:spPr>
          <a:xfrm>
            <a:off x="6437746" y="2575539"/>
            <a:ext cx="4854240" cy="274313"/>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FFFFF"/>
                </a:solidFill>
                <a:latin typeface="Inter" pitchFamily="34" charset="0"/>
                <a:ea typeface="Inter" pitchFamily="34" charset="-122"/>
                <a:cs typeface="Inter" pitchFamily="34" charset="-120"/>
              </a:rPr>
              <a:t>FALLBACK</a:t>
            </a:r>
            <a:endParaRPr lang="en-US" sz="1400" dirty="0"/>
          </a:p>
        </p:txBody>
      </p:sp>
      <p:sp>
        <p:nvSpPr>
          <p:cNvPr id="10" name="Text 8"/>
          <p:cNvSpPr/>
          <p:nvPr/>
        </p:nvSpPr>
        <p:spPr>
          <a:xfrm>
            <a:off x="6437746" y="2913354"/>
            <a:ext cx="485424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FFFF"/>
                </a:solidFill>
                <a:latin typeface="Inter" pitchFamily="34" charset="0"/>
                <a:ea typeface="Inter" pitchFamily="34" charset="-122"/>
                <a:cs typeface="Inter" pitchFamily="34" charset="-120"/>
              </a:rPr>
              <a:t>Rules set the baseline. Output is validated. One retry, then a cached draft, then a fixed template. The owner approves everything.</a:t>
            </a:r>
            <a:endParaRPr lang="en-US" sz="1500" dirty="0"/>
          </a:p>
        </p:txBody>
      </p:sp>
      <p:sp>
        <p:nvSpPr>
          <p:cNvPr id="11" name="Shape 9"/>
          <p:cNvSpPr/>
          <p:nvPr/>
        </p:nvSpPr>
        <p:spPr>
          <a:xfrm>
            <a:off x="819150" y="4151604"/>
            <a:ext cx="5168900" cy="1303229"/>
          </a:xfrm>
          <a:prstGeom prst="roundRect">
            <a:avLst>
              <a:gd name="adj" fmla="val 13156"/>
            </a:avLst>
          </a:prstGeom>
          <a:solidFill>
            <a:srgbClr val="111C33"/>
          </a:solidFill>
          <a:ln w="12700">
            <a:solidFill>
              <a:srgbClr val="22345A"/>
            </a:solidFill>
            <a:prstDash val="solid"/>
          </a:ln>
        </p:spPr>
      </p:sp>
      <p:sp>
        <p:nvSpPr>
          <p:cNvPr id="12" name="Text 10"/>
          <p:cNvSpPr/>
          <p:nvPr/>
        </p:nvSpPr>
        <p:spPr>
          <a:xfrm>
            <a:off x="1052946" y="4385401"/>
            <a:ext cx="4842348" cy="274313"/>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2D3EE"/>
                </a:solidFill>
                <a:latin typeface="Inter" pitchFamily="34" charset="0"/>
                <a:ea typeface="Inter" pitchFamily="34" charset="-122"/>
                <a:cs typeface="Inter" pitchFamily="34" charset="-120"/>
              </a:rPr>
              <a:t>DATA AND PDPA</a:t>
            </a:r>
            <a:endParaRPr lang="en-US" sz="1400" dirty="0"/>
          </a:p>
        </p:txBody>
      </p:sp>
      <p:sp>
        <p:nvSpPr>
          <p:cNvPr id="13" name="Text 11"/>
          <p:cNvSpPr/>
          <p:nvPr/>
        </p:nvSpPr>
        <p:spPr>
          <a:xfrm>
            <a:off x="1052946" y="4723209"/>
            <a:ext cx="4842348" cy="52322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A"/>
                </a:solidFill>
                <a:latin typeface="Inter" pitchFamily="34" charset="0"/>
                <a:ea typeface="Inter" pitchFamily="34" charset="-122"/>
                <a:cs typeface="Inter" pitchFamily="34" charset="-120"/>
              </a:rPr>
              <a:t>Demo uses synthetic data only. Real customer data would need consent and PDPA-compliant handling first.</a:t>
            </a:r>
            <a:endParaRPr lang="en-US" sz="1400" dirty="0"/>
          </a:p>
        </p:txBody>
      </p:sp>
      <p:sp>
        <p:nvSpPr>
          <p:cNvPr id="14" name="Shape 12"/>
          <p:cNvSpPr/>
          <p:nvPr/>
        </p:nvSpPr>
        <p:spPr>
          <a:xfrm>
            <a:off x="6203950" y="4151604"/>
            <a:ext cx="5168900" cy="1303229"/>
          </a:xfrm>
          <a:prstGeom prst="roundRect">
            <a:avLst>
              <a:gd name="adj" fmla="val 13156"/>
            </a:avLst>
          </a:prstGeom>
          <a:solidFill>
            <a:srgbClr val="111C33"/>
          </a:solidFill>
          <a:ln w="12700">
            <a:solidFill>
              <a:srgbClr val="22345A"/>
            </a:solidFill>
            <a:prstDash val="solid"/>
          </a:ln>
        </p:spPr>
      </p:sp>
      <p:sp>
        <p:nvSpPr>
          <p:cNvPr id="15" name="Text 13"/>
          <p:cNvSpPr/>
          <p:nvPr/>
        </p:nvSpPr>
        <p:spPr>
          <a:xfrm>
            <a:off x="6437746" y="4385401"/>
            <a:ext cx="4842348" cy="274313"/>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22D3EE"/>
                </a:solidFill>
                <a:latin typeface="Inter" pitchFamily="34" charset="0"/>
                <a:ea typeface="Inter" pitchFamily="34" charset="-122"/>
                <a:cs typeface="Inter" pitchFamily="34" charset="-120"/>
              </a:rPr>
              <a:t>OUT OF SCOPE</a:t>
            </a:r>
            <a:endParaRPr lang="en-US" sz="1400" dirty="0"/>
          </a:p>
        </p:txBody>
      </p:sp>
      <p:sp>
        <p:nvSpPr>
          <p:cNvPr id="16" name="Text 14"/>
          <p:cNvSpPr/>
          <p:nvPr/>
        </p:nvSpPr>
        <p:spPr>
          <a:xfrm>
            <a:off x="6437746" y="4723209"/>
            <a:ext cx="4842348" cy="52322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A"/>
                </a:solidFill>
                <a:latin typeface="Inter" pitchFamily="34" charset="0"/>
                <a:ea typeface="Inter" pitchFamily="34" charset="-122"/>
                <a:cs typeface="Inter" pitchFamily="34" charset="-120"/>
              </a:rPr>
              <a:t>Real payments, real messages, legal or financial advice, and any real Orbyte connection.</a:t>
            </a:r>
            <a:endParaRPr lang="en-US" sz="1400" dirty="0"/>
          </a:p>
        </p:txBody>
      </p:sp>
      <p:sp>
        <p:nvSpPr>
          <p:cNvPr id="17" name="Text 15"/>
          <p:cNvSpPr/>
          <p:nvPr/>
        </p:nvSpPr>
        <p:spPr>
          <a:xfrm>
            <a:off x="812800" y="6238261"/>
            <a:ext cx="2822604"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Team ZH · ChaseFlow for Orbyte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12800" y="406400"/>
            <a:ext cx="609600" cy="50800"/>
          </a:xfrm>
          <a:prstGeom prst="roundRect">
            <a:avLst>
              <a:gd name="adj" fmla="val 50000"/>
            </a:avLst>
          </a:prstGeom>
          <a:solidFill>
            <a:srgbClr val="22D3EE"/>
          </a:solidFill>
          <a:ln/>
        </p:spPr>
      </p:sp>
      <p:sp>
        <p:nvSpPr>
          <p:cNvPr id="3" name="Text 1"/>
          <p:cNvSpPr/>
          <p:nvPr/>
        </p:nvSpPr>
        <p:spPr>
          <a:xfrm>
            <a:off x="812800" y="812800"/>
            <a:ext cx="3140797" cy="286544"/>
          </a:xfrm>
          <a:custGeom>
            <a:avLst/>
            <a:gdLst/>
            <a:ahLst/>
            <a:cxnLst/>
            <a:rect l="l" t="t" r="r" b="b"/>
            <a:pathLst>
              <a:path w="3140797" h="286544">
                <a:moveTo>
                  <a:pt x="143272" y="0"/>
                </a:moveTo>
                <a:lnTo>
                  <a:pt x="2997525" y="0"/>
                </a:lnTo>
                <a:arcTo hR="143272" wR="143272" stAng="16200000" swAng="5400000"/>
                <a:lnTo>
                  <a:pt x="3140797" y="143272"/>
                </a:lnTo>
                <a:arcTo hR="143272" wR="143272" stAng="0" swAng="5400000"/>
                <a:lnTo>
                  <a:pt x="143272" y="286544"/>
                </a:lnTo>
                <a:arcTo hR="143272" wR="143272" stAng="5400000" swAng="5400000"/>
                <a:lnTo>
                  <a:pt x="0" y="143272"/>
                </a:lnTo>
                <a:arcTo hR="143272" wR="143272" stAng="10800000" swAng="5400000"/>
                <a:close/>
              </a:path>
            </a:pathLst>
          </a:custGeom>
          <a:solidFill>
            <a:srgbClr val="1D4ED8"/>
          </a:solidFill>
          <a:ln/>
        </p:spPr>
        <p:txBody>
          <a:bodyPr wrap="none" lIns="0" tIns="0" rIns="0" bIns="0" rtlCol="0" anchor="ctr">
            <a:normAutofit/>
          </a:bodyPr>
          <a:lstStyle/>
          <a:p>
            <a:pPr algn="ctr" indent="0" marL="0">
              <a:lnSpc>
                <a:spcPts val="1675"/>
              </a:lnSpc>
              <a:buNone/>
            </a:pPr>
            <a:r>
              <a:rPr lang="en-US" sz="1196" b="1" spc="150" kern="0" dirty="0">
                <a:solidFill>
                  <a:srgbClr val="FFFFFF"/>
                </a:solidFill>
                <a:latin typeface="Inter" pitchFamily="34" charset="0"/>
                <a:ea typeface="Inter" pitchFamily="34" charset="-122"/>
                <a:cs typeface="Inter" pitchFamily="34" charset="-120"/>
              </a:rPr>
              <a:t>WHY CHASEFLOW STANDS OUT</a:t>
            </a:r>
            <a:endParaRPr lang="en-US" sz="1196" dirty="0"/>
          </a:p>
        </p:txBody>
      </p:sp>
      <p:sp>
        <p:nvSpPr>
          <p:cNvPr id="4" name="Text 2"/>
          <p:cNvSpPr/>
          <p:nvPr>
            <p:ph type="title"/>
          </p:nvPr>
        </p:nvSpPr>
        <p:spPr>
          <a:xfrm>
            <a:off x="812800" y="1302544"/>
            <a:ext cx="10464800" cy="440170"/>
          </a:xfrm>
          <a:prstGeom prst="rect">
            <a:avLst/>
          </a:prstGeom>
          <a:noFill/>
          <a:ln/>
        </p:spPr>
        <p:txBody>
          <a:bodyPr wrap="square" lIns="0" tIns="0" rIns="0" bIns="0" rtlCol="0" anchor="t">
            <a:normAutofit/>
          </a:bodyPr>
          <a:lstStyle/>
          <a:p>
            <a:pPr algn="l" indent="0" marL="0">
              <a:lnSpc>
                <a:spcPts val="3269"/>
              </a:lnSpc>
              <a:buNone/>
            </a:pPr>
            <a:r>
              <a:rPr lang="en-US" sz="2972" b="1" i="0" dirty="0">
                <a:solidFill>
                  <a:srgbClr val="FFFFFF"/>
                </a:solidFill>
                <a:latin typeface="Inter" pitchFamily="34" charset="0"/>
                <a:ea typeface="Inter" pitchFamily="34" charset="-122"/>
                <a:cs typeface="Inter" pitchFamily="34" charset="-120"/>
              </a:rPr>
              <a:t>Safe, simple and made for Malaysian SMEs</a:t>
            </a:r>
            <a:endParaRPr lang="en-US" sz="2972" dirty="0"/>
          </a:p>
        </p:txBody>
      </p:sp>
      <p:sp>
        <p:nvSpPr>
          <p:cNvPr id="5" name="Shape 3"/>
          <p:cNvSpPr/>
          <p:nvPr/>
        </p:nvSpPr>
        <p:spPr>
          <a:xfrm>
            <a:off x="819150" y="1926865"/>
            <a:ext cx="3390900" cy="1749605"/>
          </a:xfrm>
          <a:prstGeom prst="roundRect">
            <a:avLst>
              <a:gd name="adj" fmla="val 9799"/>
            </a:avLst>
          </a:prstGeom>
          <a:solidFill>
            <a:srgbClr val="111C33"/>
          </a:solidFill>
          <a:ln w="12700">
            <a:solidFill>
              <a:srgbClr val="22345A"/>
            </a:solidFill>
            <a:prstDash val="solid"/>
          </a:ln>
        </p:spPr>
      </p:sp>
      <p:sp>
        <p:nvSpPr>
          <p:cNvPr id="6" name="Text 4"/>
          <p:cNvSpPr/>
          <p:nvPr/>
        </p:nvSpPr>
        <p:spPr>
          <a:xfrm>
            <a:off x="1027546" y="2135262"/>
            <a:ext cx="30633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2D3EE"/>
                </a:solidFill>
                <a:latin typeface="Inter" pitchFamily="34" charset="0"/>
                <a:ea typeface="Inter" pitchFamily="34" charset="-122"/>
                <a:cs typeface="Inter" pitchFamily="34" charset="-120"/>
              </a:rPr>
              <a:t>1 · Rules first, AI second</a:t>
            </a:r>
            <a:endParaRPr lang="en-US" sz="1500" dirty="0"/>
          </a:p>
        </p:txBody>
      </p:sp>
      <p:sp>
        <p:nvSpPr>
          <p:cNvPr id="7" name="Text 5"/>
          <p:cNvSpPr/>
          <p:nvPr/>
        </p:nvSpPr>
        <p:spPr>
          <a:xfrm>
            <a:off x="1027546" y="2490862"/>
            <a:ext cx="3063332" cy="52322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A"/>
                </a:solidFill>
                <a:latin typeface="Inter" pitchFamily="34" charset="0"/>
                <a:ea typeface="Inter" pitchFamily="34" charset="-122"/>
                <a:cs typeface="Inter" pitchFamily="34" charset="-120"/>
              </a:rPr>
              <a:t>Predictable risk tiers. AI only explains and drafts.</a:t>
            </a:r>
            <a:endParaRPr lang="en-US" sz="1400" dirty="0"/>
          </a:p>
        </p:txBody>
      </p:sp>
      <p:sp>
        <p:nvSpPr>
          <p:cNvPr id="8" name="Shape 6"/>
          <p:cNvSpPr/>
          <p:nvPr/>
        </p:nvSpPr>
        <p:spPr>
          <a:xfrm>
            <a:off x="4400550" y="1926865"/>
            <a:ext cx="3390900" cy="1749605"/>
          </a:xfrm>
          <a:prstGeom prst="roundRect">
            <a:avLst>
              <a:gd name="adj" fmla="val 9799"/>
            </a:avLst>
          </a:prstGeom>
          <a:solidFill>
            <a:srgbClr val="111C33"/>
          </a:solidFill>
          <a:ln w="12700">
            <a:solidFill>
              <a:srgbClr val="22345A"/>
            </a:solidFill>
            <a:prstDash val="solid"/>
          </a:ln>
        </p:spPr>
      </p:sp>
      <p:sp>
        <p:nvSpPr>
          <p:cNvPr id="9" name="Text 7"/>
          <p:cNvSpPr/>
          <p:nvPr/>
        </p:nvSpPr>
        <p:spPr>
          <a:xfrm>
            <a:off x="4608945" y="2135262"/>
            <a:ext cx="30633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2D3EE"/>
                </a:solidFill>
                <a:latin typeface="Inter" pitchFamily="34" charset="0"/>
                <a:ea typeface="Inter" pitchFamily="34" charset="-122"/>
                <a:cs typeface="Inter" pitchFamily="34" charset="-120"/>
              </a:rPr>
              <a:t>2 · Human in control</a:t>
            </a:r>
            <a:endParaRPr lang="en-US" sz="1500" dirty="0"/>
          </a:p>
        </p:txBody>
      </p:sp>
      <p:sp>
        <p:nvSpPr>
          <p:cNvPr id="10" name="Text 8"/>
          <p:cNvSpPr/>
          <p:nvPr/>
        </p:nvSpPr>
        <p:spPr>
          <a:xfrm>
            <a:off x="4608945" y="2490862"/>
            <a:ext cx="3063332" cy="52322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A"/>
                </a:solidFill>
                <a:latin typeface="Inter" pitchFamily="34" charset="0"/>
                <a:ea typeface="Inter" pitchFamily="34" charset="-122"/>
                <a:cs typeface="Inter" pitchFamily="34" charset="-120"/>
              </a:rPr>
              <a:t>The owner approves every message. Sending is simulated.</a:t>
            </a:r>
            <a:endParaRPr lang="en-US" sz="1400" dirty="0"/>
          </a:p>
        </p:txBody>
      </p:sp>
      <p:sp>
        <p:nvSpPr>
          <p:cNvPr id="11" name="Shape 9"/>
          <p:cNvSpPr/>
          <p:nvPr/>
        </p:nvSpPr>
        <p:spPr>
          <a:xfrm>
            <a:off x="7981950" y="1926865"/>
            <a:ext cx="3390900" cy="1749605"/>
          </a:xfrm>
          <a:prstGeom prst="roundRect">
            <a:avLst>
              <a:gd name="adj" fmla="val 9799"/>
            </a:avLst>
          </a:prstGeom>
          <a:solidFill>
            <a:srgbClr val="111C33"/>
          </a:solidFill>
          <a:ln w="12700">
            <a:solidFill>
              <a:srgbClr val="22345A"/>
            </a:solidFill>
            <a:prstDash val="solid"/>
          </a:ln>
        </p:spPr>
      </p:sp>
      <p:sp>
        <p:nvSpPr>
          <p:cNvPr id="12" name="Text 10"/>
          <p:cNvSpPr/>
          <p:nvPr/>
        </p:nvSpPr>
        <p:spPr>
          <a:xfrm>
            <a:off x="8190346" y="2135262"/>
            <a:ext cx="3063332" cy="543719"/>
          </a:xfrm>
          <a:prstGeom prst="rect">
            <a:avLst/>
          </a:prstGeom>
          <a:noFill/>
          <a:ln/>
        </p:spPr>
        <p:txBody>
          <a:bodyPr wrap="square" lIns="0" tIns="0" rIns="0" bIns="0" rtlCol="0" anchor="t">
            <a:normAutofit/>
          </a:bodyPr>
          <a:lstStyle/>
          <a:p>
            <a:pPr algn="l" indent="0" marL="0">
              <a:lnSpc>
                <a:spcPts val="2061"/>
              </a:lnSpc>
              <a:buNone/>
            </a:pPr>
            <a:r>
              <a:rPr lang="en-US" sz="1472" b="1" dirty="0">
                <a:solidFill>
                  <a:srgbClr val="22D3EE"/>
                </a:solidFill>
                <a:latin typeface="Inter" pitchFamily="34" charset="0"/>
                <a:ea typeface="Inter" pitchFamily="34" charset="-122"/>
                <a:cs typeface="Inter" pitchFamily="34" charset="-120"/>
              </a:rPr>
              <a:t>3 · Speaks the customer's language</a:t>
            </a:r>
            <a:endParaRPr lang="en-US" sz="1472" dirty="0"/>
          </a:p>
        </p:txBody>
      </p:sp>
      <p:sp>
        <p:nvSpPr>
          <p:cNvPr id="13" name="Text 11"/>
          <p:cNvSpPr/>
          <p:nvPr/>
        </p:nvSpPr>
        <p:spPr>
          <a:xfrm>
            <a:off x="8190346" y="2742481"/>
            <a:ext cx="3063332" cy="750996"/>
          </a:xfrm>
          <a:prstGeom prst="rect">
            <a:avLst/>
          </a:prstGeom>
          <a:noFill/>
          <a:ln/>
        </p:spPr>
        <p:txBody>
          <a:bodyPr wrap="square" lIns="0" tIns="0" rIns="0" bIns="0" rtlCol="0" anchor="t">
            <a:normAutofit/>
          </a:bodyPr>
          <a:lstStyle/>
          <a:p>
            <a:pPr algn="l" indent="0" marL="0">
              <a:lnSpc>
                <a:spcPts val="1948"/>
              </a:lnSpc>
              <a:buNone/>
            </a:pPr>
            <a:r>
              <a:rPr lang="en-US" sz="1391" dirty="0">
                <a:solidFill>
                  <a:srgbClr val="E6ECFA"/>
                </a:solidFill>
                <a:latin typeface="Inter" pitchFamily="34" charset="0"/>
                <a:ea typeface="Inter" pitchFamily="34" charset="-122"/>
                <a:cs typeface="Inter" pitchFamily="34" charset="-120"/>
              </a:rPr>
              <a:t>English, Bahasa Malaysia or Chinese, from the customer record.</a:t>
            </a:r>
            <a:endParaRPr lang="en-US" sz="1391" dirty="0"/>
          </a:p>
        </p:txBody>
      </p:sp>
      <p:sp>
        <p:nvSpPr>
          <p:cNvPr id="14" name="Shape 12"/>
          <p:cNvSpPr/>
          <p:nvPr/>
        </p:nvSpPr>
        <p:spPr>
          <a:xfrm>
            <a:off x="819150" y="3866970"/>
            <a:ext cx="3390900" cy="1519129"/>
          </a:xfrm>
          <a:prstGeom prst="roundRect">
            <a:avLst>
              <a:gd name="adj" fmla="val 11286"/>
            </a:avLst>
          </a:prstGeom>
          <a:solidFill>
            <a:srgbClr val="111C33"/>
          </a:solidFill>
          <a:ln w="12700">
            <a:solidFill>
              <a:srgbClr val="22345A"/>
            </a:solidFill>
            <a:prstDash val="solid"/>
          </a:ln>
        </p:spPr>
      </p:sp>
      <p:sp>
        <p:nvSpPr>
          <p:cNvPr id="15" name="Text 13"/>
          <p:cNvSpPr/>
          <p:nvPr/>
        </p:nvSpPr>
        <p:spPr>
          <a:xfrm>
            <a:off x="1027546" y="4075367"/>
            <a:ext cx="30633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2D3EE"/>
                </a:solidFill>
                <a:latin typeface="Inter" pitchFamily="34" charset="0"/>
                <a:ea typeface="Inter" pitchFamily="34" charset="-122"/>
                <a:cs typeface="Inter" pitchFamily="34" charset="-120"/>
              </a:rPr>
              <a:t>4 · Promise-to-Pay</a:t>
            </a:r>
            <a:endParaRPr lang="en-US" sz="1500" dirty="0"/>
          </a:p>
        </p:txBody>
      </p:sp>
      <p:sp>
        <p:nvSpPr>
          <p:cNvPr id="16" name="Text 14"/>
          <p:cNvSpPr/>
          <p:nvPr/>
        </p:nvSpPr>
        <p:spPr>
          <a:xfrm>
            <a:off x="1027546" y="4430967"/>
            <a:ext cx="3063332" cy="77213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A"/>
                </a:solidFill>
                <a:latin typeface="Inter" pitchFamily="34" charset="0"/>
                <a:ea typeface="Inter" pitchFamily="34" charset="-122"/>
                <a:cs typeface="Inter" pitchFamily="34" charset="-120"/>
              </a:rPr>
              <a:t>Kept, late or broken is worked out from the invoice's recorded payment.</a:t>
            </a:r>
            <a:endParaRPr lang="en-US" sz="1400" dirty="0"/>
          </a:p>
        </p:txBody>
      </p:sp>
      <p:sp>
        <p:nvSpPr>
          <p:cNvPr id="17" name="Shape 15"/>
          <p:cNvSpPr/>
          <p:nvPr/>
        </p:nvSpPr>
        <p:spPr>
          <a:xfrm>
            <a:off x="4400550" y="3866970"/>
            <a:ext cx="3390900" cy="1519129"/>
          </a:xfrm>
          <a:prstGeom prst="roundRect">
            <a:avLst>
              <a:gd name="adj" fmla="val 11286"/>
            </a:avLst>
          </a:prstGeom>
          <a:solidFill>
            <a:srgbClr val="111C33"/>
          </a:solidFill>
          <a:ln w="12700">
            <a:solidFill>
              <a:srgbClr val="22345A"/>
            </a:solidFill>
            <a:prstDash val="solid"/>
          </a:ln>
        </p:spPr>
      </p:sp>
      <p:sp>
        <p:nvSpPr>
          <p:cNvPr id="18" name="Text 16"/>
          <p:cNvSpPr/>
          <p:nvPr/>
        </p:nvSpPr>
        <p:spPr>
          <a:xfrm>
            <a:off x="4608945" y="4075367"/>
            <a:ext cx="30633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2D3EE"/>
                </a:solidFill>
                <a:latin typeface="Inter" pitchFamily="34" charset="0"/>
                <a:ea typeface="Inter" pitchFamily="34" charset="-122"/>
                <a:cs typeface="Inter" pitchFamily="34" charset="-120"/>
              </a:rPr>
              <a:t>5 · No training needed</a:t>
            </a:r>
            <a:endParaRPr lang="en-US" sz="1500" dirty="0"/>
          </a:p>
        </p:txBody>
      </p:sp>
      <p:sp>
        <p:nvSpPr>
          <p:cNvPr id="19" name="Text 17"/>
          <p:cNvSpPr/>
          <p:nvPr/>
        </p:nvSpPr>
        <p:spPr>
          <a:xfrm>
            <a:off x="4608945" y="4430967"/>
            <a:ext cx="3063332" cy="52322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A"/>
                </a:solidFill>
                <a:latin typeface="Inter" pitchFamily="34" charset="0"/>
                <a:ea typeface="Inter" pitchFamily="34" charset="-122"/>
                <a:cs typeface="Inter" pitchFamily="34" charset="-120"/>
              </a:rPr>
              <a:t>One click from overdue list to a ready draft.</a:t>
            </a:r>
            <a:endParaRPr lang="en-US" sz="1400" dirty="0"/>
          </a:p>
        </p:txBody>
      </p:sp>
      <p:sp>
        <p:nvSpPr>
          <p:cNvPr id="20" name="Shape 18"/>
          <p:cNvSpPr/>
          <p:nvPr/>
        </p:nvSpPr>
        <p:spPr>
          <a:xfrm>
            <a:off x="7981950" y="3866970"/>
            <a:ext cx="3390900" cy="1519129"/>
          </a:xfrm>
          <a:prstGeom prst="roundRect">
            <a:avLst>
              <a:gd name="adj" fmla="val 11286"/>
            </a:avLst>
          </a:prstGeom>
          <a:solidFill>
            <a:srgbClr val="111C33"/>
          </a:solidFill>
          <a:ln w="12700">
            <a:solidFill>
              <a:srgbClr val="22345A"/>
            </a:solidFill>
            <a:prstDash val="solid"/>
          </a:ln>
        </p:spPr>
      </p:sp>
      <p:sp>
        <p:nvSpPr>
          <p:cNvPr id="21" name="Text 19"/>
          <p:cNvSpPr/>
          <p:nvPr/>
        </p:nvSpPr>
        <p:spPr>
          <a:xfrm>
            <a:off x="8190346" y="4075367"/>
            <a:ext cx="30633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2D3EE"/>
                </a:solidFill>
                <a:latin typeface="Inter" pitchFamily="34" charset="0"/>
                <a:ea typeface="Inter" pitchFamily="34" charset="-122"/>
                <a:cs typeface="Inter" pitchFamily="34" charset="-120"/>
              </a:rPr>
              <a:t>6 · Honest numbers</a:t>
            </a:r>
            <a:endParaRPr lang="en-US" sz="1500" dirty="0"/>
          </a:p>
        </p:txBody>
      </p:sp>
      <p:sp>
        <p:nvSpPr>
          <p:cNvPr id="22" name="Text 20"/>
          <p:cNvSpPr/>
          <p:nvPr/>
        </p:nvSpPr>
        <p:spPr>
          <a:xfrm>
            <a:off x="8190346" y="4430967"/>
            <a:ext cx="3063332" cy="52322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ECFA"/>
                </a:solidFill>
                <a:latin typeface="Inter" pitchFamily="34" charset="0"/>
                <a:ea typeface="Inter" pitchFamily="34" charset="-122"/>
                <a:cs typeface="Inter" pitchFamily="34" charset="-120"/>
              </a:rPr>
              <a:t>One clear KPI, and assumptions are labelled.</a:t>
            </a:r>
            <a:endParaRPr lang="en-US" sz="1400" dirty="0"/>
          </a:p>
        </p:txBody>
      </p:sp>
      <p:sp>
        <p:nvSpPr>
          <p:cNvPr id="23" name="Text 21"/>
          <p:cNvSpPr/>
          <p:nvPr/>
        </p:nvSpPr>
        <p:spPr>
          <a:xfrm>
            <a:off x="812800" y="5595652"/>
            <a:ext cx="10883392" cy="2717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A0C6"/>
                </a:solidFill>
                <a:latin typeface="Inter" pitchFamily="34" charset="0"/>
                <a:ea typeface="Inter" pitchFamily="34" charset="-122"/>
                <a:cs typeface="Inter" pitchFamily="34" charset="-120"/>
              </a:rPr>
              <a:t>Built by an accounting student with a long-standing interest in SME problems.</a:t>
            </a:r>
            <a:endParaRPr lang="en-US" sz="1400" dirty="0"/>
          </a:p>
        </p:txBody>
      </p:sp>
      <p:sp>
        <p:nvSpPr>
          <p:cNvPr id="24" name="Text 22"/>
          <p:cNvSpPr/>
          <p:nvPr/>
        </p:nvSpPr>
        <p:spPr>
          <a:xfrm>
            <a:off x="812800" y="6238261"/>
            <a:ext cx="2822604"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Team ZH · ChaseFlow for Orbyte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812800" y="406400"/>
            <a:ext cx="609600" cy="50800"/>
          </a:xfrm>
          <a:prstGeom prst="roundRect">
            <a:avLst>
              <a:gd name="adj" fmla="val 50000"/>
            </a:avLst>
          </a:prstGeom>
          <a:solidFill>
            <a:srgbClr val="22D3EE"/>
          </a:solidFill>
          <a:ln/>
        </p:spPr>
      </p:sp>
      <p:sp>
        <p:nvSpPr>
          <p:cNvPr id="3" name="Text 1"/>
          <p:cNvSpPr/>
          <p:nvPr/>
        </p:nvSpPr>
        <p:spPr>
          <a:xfrm>
            <a:off x="812800" y="1513861"/>
            <a:ext cx="1408978" cy="289538"/>
          </a:xfrm>
          <a:custGeom>
            <a:avLst/>
            <a:gdLst/>
            <a:ahLst/>
            <a:cxnLst/>
            <a:rect l="l" t="t" r="r" b="b"/>
            <a:pathLst>
              <a:path w="1408978" h="289538">
                <a:moveTo>
                  <a:pt x="144769" y="0"/>
                </a:moveTo>
                <a:lnTo>
                  <a:pt x="1264209" y="0"/>
                </a:lnTo>
                <a:arcTo hR="144769" wR="144769" stAng="16200000" swAng="5400000"/>
                <a:lnTo>
                  <a:pt x="1408978" y="144769"/>
                </a:lnTo>
                <a:arcTo hR="144769" wR="144769" stAng="0" swAng="5400000"/>
                <a:lnTo>
                  <a:pt x="144769" y="289538"/>
                </a:lnTo>
                <a:arcTo hR="144769" wR="144769" stAng="5400000" swAng="5400000"/>
                <a:lnTo>
                  <a:pt x="0" y="144769"/>
                </a:lnTo>
                <a:arcTo hR="144769" wR="144769" stAng="10800000" swAng="5400000"/>
                <a:close/>
              </a:path>
            </a:pathLst>
          </a:custGeom>
          <a:solidFill>
            <a:srgbClr val="1D4ED8"/>
          </a:solidFill>
          <a:ln/>
        </p:spPr>
        <p:txBody>
          <a:bodyPr wrap="none" lIns="0" tIns="0" rIns="0" bIns="0" rtlCol="0" anchor="ctr">
            <a:normAutofit/>
          </a:bodyPr>
          <a:lstStyle/>
          <a:p>
            <a:pPr algn="ctr" indent="0" marL="0">
              <a:lnSpc>
                <a:spcPts val="1680"/>
              </a:lnSpc>
              <a:buNone/>
            </a:pPr>
            <a:r>
              <a:rPr lang="en-US" sz="1200" b="1" spc="150" kern="0" dirty="0">
                <a:solidFill>
                  <a:srgbClr val="FFFFFF"/>
                </a:solidFill>
                <a:latin typeface="Inter" pitchFamily="34" charset="0"/>
                <a:ea typeface="Inter" pitchFamily="34" charset="-122"/>
                <a:cs typeface="Inter" pitchFamily="34" charset="-120"/>
              </a:rPr>
              <a:t>NEXT STEPS</a:t>
            </a:r>
            <a:endParaRPr lang="en-US" sz="1200" dirty="0"/>
          </a:p>
        </p:txBody>
      </p:sp>
      <p:sp>
        <p:nvSpPr>
          <p:cNvPr id="4" name="Text 2"/>
          <p:cNvSpPr/>
          <p:nvPr>
            <p:ph type="title"/>
          </p:nvPr>
        </p:nvSpPr>
        <p:spPr>
          <a:xfrm>
            <a:off x="812800" y="2006600"/>
            <a:ext cx="9810750" cy="1305502"/>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FFFFF"/>
                </a:solidFill>
                <a:latin typeface="Inter" pitchFamily="34" charset="0"/>
                <a:ea typeface="Inter" pitchFamily="34" charset="-122"/>
                <a:cs typeface="Inter" pitchFamily="34" charset="-120"/>
              </a:rPr>
              <a:t>Get paid on time.</a:t>
            </a:r>
            <a:endParaRPr lang="en-US" sz="4800" dirty="0"/>
          </a:p>
          <a:p>
            <a:pPr algn="l" indent="0" marL="0">
              <a:lnSpc>
                <a:spcPts val="5040"/>
              </a:lnSpc>
              <a:buNone/>
            </a:pPr>
            <a:r>
              <a:rPr lang="en-US" sz="4800" b="1" i="0" dirty="0">
                <a:solidFill>
                  <a:srgbClr val="22D3EE"/>
                </a:solidFill>
                <a:latin typeface="Inter" pitchFamily="34" charset="0"/>
                <a:ea typeface="Inter" pitchFamily="34" charset="-122"/>
                <a:cs typeface="Inter" pitchFamily="34" charset="-120"/>
              </a:rPr>
              <a:t>Keep the customer.</a:t>
            </a:r>
            <a:endParaRPr lang="en-US" sz="4800" dirty="0"/>
          </a:p>
        </p:txBody>
      </p:sp>
      <p:sp>
        <p:nvSpPr>
          <p:cNvPr id="5" name="Text 3"/>
          <p:cNvSpPr/>
          <p:nvPr/>
        </p:nvSpPr>
        <p:spPr>
          <a:xfrm>
            <a:off x="812800" y="3489902"/>
            <a:ext cx="457200" cy="4572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2240"/>
              </a:lnSpc>
              <a:buNone/>
            </a:pPr>
            <a:r>
              <a:rPr lang="en-US" sz="1600" b="1" dirty="0">
                <a:solidFill>
                  <a:srgbClr val="FFFFFF"/>
                </a:solidFill>
                <a:latin typeface="Inter" pitchFamily="34" charset="0"/>
                <a:ea typeface="Inter" pitchFamily="34" charset="-122"/>
                <a:cs typeface="Inter" pitchFamily="34" charset="-120"/>
              </a:rPr>
              <a:t>1</a:t>
            </a:r>
            <a:endParaRPr lang="en-US" sz="1600" dirty="0"/>
          </a:p>
        </p:txBody>
      </p:sp>
      <p:sp>
        <p:nvSpPr>
          <p:cNvPr id="6" name="Text 4"/>
          <p:cNvSpPr/>
          <p:nvPr/>
        </p:nvSpPr>
        <p:spPr>
          <a:xfrm>
            <a:off x="1422400" y="3572780"/>
            <a:ext cx="10769600" cy="316851"/>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E6ECFA"/>
                </a:solidFill>
                <a:latin typeface="Inter" pitchFamily="34" charset="0"/>
                <a:ea typeface="Inter" pitchFamily="34" charset="-122"/>
                <a:cs typeface="Inter" pitchFamily="34" charset="-120"/>
              </a:rPr>
              <a:t>Pilot with a few SMEs using their own data, with consent, and measure minutes per reminder</a:t>
            </a:r>
            <a:endParaRPr lang="en-US" sz="1700" dirty="0"/>
          </a:p>
        </p:txBody>
      </p:sp>
      <p:sp>
        <p:nvSpPr>
          <p:cNvPr id="7" name="Text 5"/>
          <p:cNvSpPr/>
          <p:nvPr/>
        </p:nvSpPr>
        <p:spPr>
          <a:xfrm>
            <a:off x="812800" y="4086802"/>
            <a:ext cx="457200" cy="4572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2240"/>
              </a:lnSpc>
              <a:buNone/>
            </a:pPr>
            <a:r>
              <a:rPr lang="en-US" sz="1600" b="1" dirty="0">
                <a:solidFill>
                  <a:srgbClr val="FFFFFF"/>
                </a:solidFill>
                <a:latin typeface="Inter" pitchFamily="34" charset="0"/>
                <a:ea typeface="Inter" pitchFamily="34" charset="-122"/>
                <a:cs typeface="Inter" pitchFamily="34" charset="-120"/>
              </a:rPr>
              <a:t>2</a:t>
            </a:r>
            <a:endParaRPr lang="en-US" sz="1600" dirty="0"/>
          </a:p>
        </p:txBody>
      </p:sp>
      <p:sp>
        <p:nvSpPr>
          <p:cNvPr id="8" name="Text 6"/>
          <p:cNvSpPr/>
          <p:nvPr/>
        </p:nvSpPr>
        <p:spPr>
          <a:xfrm>
            <a:off x="1422400" y="4169680"/>
            <a:ext cx="4997811" cy="316851"/>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E6ECFA"/>
                </a:solidFill>
                <a:latin typeface="Inter" pitchFamily="34" charset="0"/>
                <a:ea typeface="Inter" pitchFamily="34" charset="-122"/>
                <a:cs typeface="Inter" pitchFamily="34" charset="-120"/>
              </a:rPr>
              <a:t>Add a database so data survives restarts</a:t>
            </a:r>
            <a:endParaRPr lang="en-US" sz="1700" dirty="0"/>
          </a:p>
        </p:txBody>
      </p:sp>
      <p:sp>
        <p:nvSpPr>
          <p:cNvPr id="9" name="Text 7"/>
          <p:cNvSpPr/>
          <p:nvPr/>
        </p:nvSpPr>
        <p:spPr>
          <a:xfrm>
            <a:off x="812800" y="4683702"/>
            <a:ext cx="457200" cy="457200"/>
          </a:xfrm>
          <a:prstGeom prst="roundRect">
            <a:avLst>
              <a:gd name="adj" fmla="val 50000"/>
            </a:avLst>
          </a:prstGeom>
          <a:solidFill>
            <a:srgbClr val="1D4ED8"/>
          </a:solidFill>
          <a:ln/>
        </p:spPr>
        <p:txBody>
          <a:bodyPr wrap="square" lIns="0" tIns="0" rIns="0" bIns="0" rtlCol="0" anchor="ctr">
            <a:normAutofit/>
          </a:bodyPr>
          <a:lstStyle/>
          <a:p>
            <a:pPr algn="ctr" indent="0" marL="0">
              <a:lnSpc>
                <a:spcPts val="2240"/>
              </a:lnSpc>
              <a:buNone/>
            </a:pPr>
            <a:r>
              <a:rPr lang="en-US" sz="1600" b="1" dirty="0">
                <a:solidFill>
                  <a:srgbClr val="FFFFFF"/>
                </a:solidFill>
                <a:latin typeface="Inter" pitchFamily="34" charset="0"/>
                <a:ea typeface="Inter" pitchFamily="34" charset="-122"/>
                <a:cs typeface="Inter" pitchFamily="34" charset="-120"/>
              </a:rPr>
              <a:t>3</a:t>
            </a:r>
            <a:endParaRPr lang="en-US" sz="1600" dirty="0"/>
          </a:p>
        </p:txBody>
      </p:sp>
      <p:sp>
        <p:nvSpPr>
          <p:cNvPr id="10" name="Text 8"/>
          <p:cNvSpPr/>
          <p:nvPr/>
        </p:nvSpPr>
        <p:spPr>
          <a:xfrm>
            <a:off x="1422400" y="4766580"/>
            <a:ext cx="10070480" cy="316851"/>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E6ECFA"/>
                </a:solidFill>
                <a:latin typeface="Inter" pitchFamily="34" charset="0"/>
                <a:ea typeface="Inter" pitchFamily="34" charset="-122"/>
                <a:cs typeface="Inter" pitchFamily="34" charset="-120"/>
              </a:rPr>
              <a:t>Explore real sending only after owner approval, and an Orbyte integration if invited</a:t>
            </a:r>
            <a:endParaRPr lang="en-US" sz="1700" dirty="0"/>
          </a:p>
        </p:txBody>
      </p:sp>
      <p:sp>
        <p:nvSpPr>
          <p:cNvPr id="11" name="Text 9"/>
          <p:cNvSpPr/>
          <p:nvPr/>
        </p:nvSpPr>
        <p:spPr>
          <a:xfrm>
            <a:off x="812800" y="6238261"/>
            <a:ext cx="3389471"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Thank you · Team ZH · Wong Zong Han</a:t>
            </a:r>
            <a:endParaRPr lang="en-US" sz="1200" dirty="0"/>
          </a:p>
        </p:txBody>
      </p:sp>
      <p:sp>
        <p:nvSpPr>
          <p:cNvPr id="12" name="Text 10"/>
          <p:cNvSpPr/>
          <p:nvPr/>
        </p:nvSpPr>
        <p:spPr>
          <a:xfrm>
            <a:off x="8099750" y="6238261"/>
            <a:ext cx="3935340" cy="23873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DB5"/>
                </a:solidFill>
                <a:latin typeface="Inter" pitchFamily="34" charset="0"/>
                <a:ea typeface="Inter" pitchFamily="34" charset="-122"/>
                <a:cs typeface="Inter" pitchFamily="34" charset="-120"/>
              </a:rPr>
              <a:t>github.com/johnwong2403/chaseflow-orbyte</a:t>
            </a:r>
            <a:endParaRPr lang="en-US" sz="1200" dirty="0"/>
          </a:p>
        </p:txBody>
      </p:sp>
    </p:spTree>
  </p:cSld>
  <p:clrMapOvr>
    <a:masterClrMapping/>
  </p:clrMapOvr>
</p:sld>
</file>

<file path=ppt/theme/theme1.xml><?xml version="1.0" encoding="utf-8"?>
<a:theme xmlns:a="http://schemas.openxmlformats.org/drawingml/2006/main" name="ChaseFlow for Orbyte">
  <a:themeElements>
    <a:clrScheme name="ChaseFlow for Orbyte">
      <a:dk1>
        <a:srgbClr val="0B1220"/>
      </a:dk1>
      <a:lt1>
        <a:srgbClr val="FFFFFF"/>
      </a:lt1>
      <a:dk2>
        <a:srgbClr val="232A36"/>
      </a:dk2>
      <a:lt2>
        <a:srgbClr val="C2C4C7"/>
      </a:lt2>
      <a:accent1>
        <a:srgbClr val="22D3EE"/>
      </a:accent1>
      <a:accent2>
        <a:srgbClr val="1D4ED8"/>
      </a:accent2>
      <a:accent3>
        <a:srgbClr val="7C8DB5"/>
      </a:accent3>
      <a:accent4>
        <a:srgbClr val="8FA0C6"/>
      </a:accent4>
      <a:accent5>
        <a:srgbClr val="2563EB"/>
      </a:accent5>
      <a:accent6>
        <a:srgbClr val="FBBF24"/>
      </a:accent6>
      <a:hlink>
        <a:srgbClr val="0563C1"/>
      </a:hlink>
      <a:folHlink>
        <a:srgbClr val="954F72"/>
      </a:folHlink>
    </a:clrScheme>
    <a:fontScheme name="ChaseFlow for Orbyt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ChaseFlow for Orbyte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2026-10-23T14:55:59Z</dcterms:created>
  <dcterms:modified xsi:type="dcterms:W3CDTF">2026-10-23T14:55:59Z</dcterms:modified>
</cp:coreProperties>
</file>